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74" r:id="rId5"/>
    <p:sldId id="259" r:id="rId6"/>
    <p:sldId id="271" r:id="rId7"/>
    <p:sldId id="270" r:id="rId8"/>
    <p:sldId id="269" r:id="rId9"/>
    <p:sldId id="275" r:id="rId10"/>
    <p:sldId id="266" r:id="rId11"/>
    <p:sldId id="265" r:id="rId12"/>
    <p:sldId id="267" r:id="rId13"/>
    <p:sldId id="268" r:id="rId14"/>
    <p:sldId id="272" r:id="rId15"/>
    <p:sldId id="273"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916138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530358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934872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EF1807-4DDF-4252-9ACB-89DA175BB38F}"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59856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EF1807-4DDF-4252-9ACB-89DA175BB38F}" type="datetimeFigureOut">
              <a:rPr lang="en-IN" smtClean="0"/>
              <a:t>30-04-2025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64937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EF1807-4DDF-4252-9ACB-89DA175BB38F}" type="datetimeFigureOut">
              <a:rPr lang="en-IN" smtClean="0"/>
              <a:t>30-04-2025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548233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F1807-4DDF-4252-9ACB-89DA175BB38F}" type="datetimeFigureOut">
              <a:rPr lang="en-IN" smtClean="0"/>
              <a:t>30-04-2025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984144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EF1807-4DDF-4252-9ACB-89DA175BB38F}"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1120870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EF1807-4DDF-4252-9ACB-89DA175BB38F}"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048484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EF1807-4DDF-4252-9ACB-89DA175BB38F}"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892888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4249344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1713595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759116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549471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739900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1485964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60085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1EF1807-4DDF-4252-9ACB-89DA175BB38F}" type="datetimeFigureOut">
              <a:rPr lang="en-IN" smtClean="0"/>
              <a:t>30-04-2025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A25BF90-69E1-4AC7-822B-DC25BBE480DE}" type="slidenum">
              <a:rPr lang="en-IN" smtClean="0"/>
              <a:t>‹#›</a:t>
            </a:fld>
            <a:endParaRPr lang="en-IN"/>
          </a:p>
        </p:txBody>
      </p:sp>
    </p:spTree>
    <p:extLst>
      <p:ext uri="{BB962C8B-B14F-4D97-AF65-F5344CB8AC3E}">
        <p14:creationId xmlns:p14="http://schemas.microsoft.com/office/powerpoint/2010/main" val="236986321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6D7A-4004-4221-84BC-A4E7B039FD7F}"/>
              </a:ext>
            </a:extLst>
          </p:cNvPr>
          <p:cNvSpPr>
            <a:spLocks noGrp="1"/>
          </p:cNvSpPr>
          <p:nvPr>
            <p:ph type="ctrTitle"/>
          </p:nvPr>
        </p:nvSpPr>
        <p:spPr>
          <a:xfrm>
            <a:off x="1582270" y="1855852"/>
            <a:ext cx="9027459" cy="1293906"/>
          </a:xfrm>
        </p:spPr>
        <p:txBody>
          <a:bodyPr>
            <a:normAutofit fontScale="90000"/>
          </a:bodyPr>
          <a:lstStyle/>
          <a:p>
            <a:pPr algn="ctr"/>
            <a:r>
              <a:rPr lang="en-US" sz="4000" dirty="0">
                <a:solidFill>
                  <a:srgbClr val="0070C0"/>
                </a:solidFill>
              </a:rPr>
              <a:t>Loan Analytics Banking Data Presentation</a:t>
            </a:r>
            <a:br>
              <a:rPr lang="en-US" sz="4000" dirty="0">
                <a:solidFill>
                  <a:srgbClr val="0070C0"/>
                </a:solidFill>
              </a:rPr>
            </a:br>
            <a:br>
              <a:rPr lang="en-US" sz="4000" dirty="0">
                <a:solidFill>
                  <a:srgbClr val="0070C0"/>
                </a:solidFill>
              </a:rPr>
            </a:br>
            <a:r>
              <a:rPr lang="en-US" sz="2000" dirty="0"/>
              <a:t>Using MS Excel, MySQL, Power BI &amp; Tableau</a:t>
            </a:r>
            <a:br>
              <a:rPr lang="en-US" sz="2000" dirty="0"/>
            </a:br>
            <a:r>
              <a:rPr lang="en-US" sz="2000" dirty="0"/>
              <a:t>								</a:t>
            </a:r>
            <a:br>
              <a:rPr lang="en-US" sz="2000" dirty="0"/>
            </a:br>
            <a:br>
              <a:rPr lang="en-US" sz="2000" dirty="0"/>
            </a:br>
            <a:r>
              <a:rPr lang="en-US" sz="2000" dirty="0"/>
              <a:t>														By Group 4</a:t>
            </a:r>
            <a:endParaRPr lang="en-IN" sz="4800" dirty="0"/>
          </a:p>
        </p:txBody>
      </p:sp>
    </p:spTree>
    <p:extLst>
      <p:ext uri="{BB962C8B-B14F-4D97-AF65-F5344CB8AC3E}">
        <p14:creationId xmlns:p14="http://schemas.microsoft.com/office/powerpoint/2010/main" val="576678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3351A-1AB5-48CE-947C-3A742A68A87E}"/>
              </a:ext>
            </a:extLst>
          </p:cNvPr>
          <p:cNvSpPr>
            <a:spLocks noGrp="1"/>
          </p:cNvSpPr>
          <p:nvPr>
            <p:ph type="title"/>
          </p:nvPr>
        </p:nvSpPr>
        <p:spPr>
          <a:xfrm>
            <a:off x="838200" y="242047"/>
            <a:ext cx="10515600" cy="815788"/>
          </a:xfrm>
        </p:spPr>
        <p:txBody>
          <a:bodyPr>
            <a:normAutofit/>
          </a:bodyPr>
          <a:lstStyle/>
          <a:p>
            <a:r>
              <a:rPr lang="en-US" sz="3200" dirty="0">
                <a:solidFill>
                  <a:srgbClr val="0070C0"/>
                </a:solidFill>
              </a:rPr>
              <a:t>Summary:</a:t>
            </a:r>
            <a:endParaRPr lang="en-IN" sz="3200" dirty="0">
              <a:solidFill>
                <a:srgbClr val="0070C0"/>
              </a:solidFill>
            </a:endParaRPr>
          </a:p>
        </p:txBody>
      </p:sp>
      <p:sp>
        <p:nvSpPr>
          <p:cNvPr id="3" name="Content Placeholder 2">
            <a:extLst>
              <a:ext uri="{FF2B5EF4-FFF2-40B4-BE49-F238E27FC236}">
                <a16:creationId xmlns:a16="http://schemas.microsoft.com/office/drawing/2014/main" id="{37276B4B-B8CA-4DBA-A917-17D24F24976A}"/>
              </a:ext>
            </a:extLst>
          </p:cNvPr>
          <p:cNvSpPr>
            <a:spLocks noGrp="1"/>
          </p:cNvSpPr>
          <p:nvPr>
            <p:ph idx="1"/>
          </p:nvPr>
        </p:nvSpPr>
        <p:spPr>
          <a:xfrm>
            <a:off x="1335087" y="1349186"/>
            <a:ext cx="10018713" cy="3124201"/>
          </a:xfrm>
        </p:spPr>
        <p:txBody>
          <a:bodyPr>
            <a:normAutofit fontScale="92500" lnSpcReduction="20000"/>
          </a:bodyPr>
          <a:lstStyle/>
          <a:p>
            <a:pPr marL="0" indent="0">
              <a:buNone/>
            </a:pPr>
            <a:r>
              <a:rPr lang="en-IN" dirty="0"/>
              <a:t>We performed an analysis on Banking data for Loan having 65,000+ records and drawn KPI from it using excel, my SQL and also used visualization tools like tableau and also used power bi to make dynamic dashboard.</a:t>
            </a:r>
          </a:p>
          <a:p>
            <a:pPr marL="0" indent="0">
              <a:buNone/>
            </a:pPr>
            <a:endParaRPr lang="en-IN" dirty="0"/>
          </a:p>
          <a:p>
            <a:pPr marL="0" indent="0">
              <a:buNone/>
            </a:pPr>
            <a:r>
              <a:rPr lang="en-US" dirty="0"/>
              <a:t>This dashboard provides an in-depth view of the bank's lending performance, portfolio distribution, and borrower demographics. It highlights key financial KPIs such as total loans, funded amounts, repayments, interest rates, and risk metrics. The dashboard also visualizes loan distribution by product, age group, region, branch, and religion, enabling data-driven decisions on loan strategies, risk management, and customer targeting.</a:t>
            </a:r>
            <a:endParaRPr lang="en-IN" dirty="0"/>
          </a:p>
        </p:txBody>
      </p:sp>
    </p:spTree>
    <p:extLst>
      <p:ext uri="{BB962C8B-B14F-4D97-AF65-F5344CB8AC3E}">
        <p14:creationId xmlns:p14="http://schemas.microsoft.com/office/powerpoint/2010/main" val="182504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C202-68ED-4F19-8B78-FA7B3517DF1F}"/>
              </a:ext>
            </a:extLst>
          </p:cNvPr>
          <p:cNvSpPr>
            <a:spLocks noGrp="1"/>
          </p:cNvSpPr>
          <p:nvPr>
            <p:ph type="title"/>
          </p:nvPr>
        </p:nvSpPr>
        <p:spPr>
          <a:xfrm>
            <a:off x="1484309" y="0"/>
            <a:ext cx="10018713" cy="1752599"/>
          </a:xfrm>
        </p:spPr>
        <p:txBody>
          <a:bodyPr>
            <a:normAutofit/>
          </a:bodyPr>
          <a:lstStyle/>
          <a:p>
            <a:r>
              <a:rPr lang="en-US" sz="3600" dirty="0">
                <a:solidFill>
                  <a:srgbClr val="0070C0"/>
                </a:solidFill>
              </a:rPr>
              <a:t>Key</a:t>
            </a:r>
            <a:r>
              <a:rPr lang="en-US" sz="1400" dirty="0"/>
              <a:t> </a:t>
            </a:r>
            <a:r>
              <a:rPr lang="en-US" sz="3600" dirty="0">
                <a:solidFill>
                  <a:srgbClr val="0070C0"/>
                </a:solidFill>
              </a:rPr>
              <a:t>Performance</a:t>
            </a:r>
            <a:r>
              <a:rPr lang="en-US" sz="1400" dirty="0"/>
              <a:t> </a:t>
            </a:r>
            <a:r>
              <a:rPr lang="en-US" sz="3600" dirty="0">
                <a:solidFill>
                  <a:srgbClr val="0070C0"/>
                </a:solidFill>
              </a:rPr>
              <a:t>Indicators (KPIs)</a:t>
            </a:r>
            <a:endParaRPr lang="en-IN" sz="3600" dirty="0">
              <a:solidFill>
                <a:srgbClr val="0070C0"/>
              </a:solidFill>
            </a:endParaRPr>
          </a:p>
        </p:txBody>
      </p:sp>
      <p:graphicFrame>
        <p:nvGraphicFramePr>
          <p:cNvPr id="9" name="Table 8">
            <a:extLst>
              <a:ext uri="{FF2B5EF4-FFF2-40B4-BE49-F238E27FC236}">
                <a16:creationId xmlns:a16="http://schemas.microsoft.com/office/drawing/2014/main" id="{DA98B211-69E1-58EA-9088-2B7D160615F4}"/>
              </a:ext>
            </a:extLst>
          </p:cNvPr>
          <p:cNvGraphicFramePr>
            <a:graphicFrameLocks noGrp="1"/>
          </p:cNvGraphicFramePr>
          <p:nvPr>
            <p:extLst>
              <p:ext uri="{D42A27DB-BD31-4B8C-83A1-F6EECF244321}">
                <p14:modId xmlns:p14="http://schemas.microsoft.com/office/powerpoint/2010/main" val="1603668463"/>
              </p:ext>
            </p:extLst>
          </p:nvPr>
        </p:nvGraphicFramePr>
        <p:xfrm>
          <a:off x="2834647" y="1706888"/>
          <a:ext cx="8210340" cy="3185154"/>
        </p:xfrm>
        <a:graphic>
          <a:graphicData uri="http://schemas.openxmlformats.org/drawingml/2006/table">
            <a:tbl>
              <a:tblPr/>
              <a:tblGrid>
                <a:gridCol w="2736780">
                  <a:extLst>
                    <a:ext uri="{9D8B030D-6E8A-4147-A177-3AD203B41FA5}">
                      <a16:colId xmlns:a16="http://schemas.microsoft.com/office/drawing/2014/main" val="3543285647"/>
                    </a:ext>
                  </a:extLst>
                </a:gridCol>
                <a:gridCol w="2736780">
                  <a:extLst>
                    <a:ext uri="{9D8B030D-6E8A-4147-A177-3AD203B41FA5}">
                      <a16:colId xmlns:a16="http://schemas.microsoft.com/office/drawing/2014/main" val="989265041"/>
                    </a:ext>
                  </a:extLst>
                </a:gridCol>
                <a:gridCol w="2736780">
                  <a:extLst>
                    <a:ext uri="{9D8B030D-6E8A-4147-A177-3AD203B41FA5}">
                      <a16:colId xmlns:a16="http://schemas.microsoft.com/office/drawing/2014/main" val="763589840"/>
                    </a:ext>
                  </a:extLst>
                </a:gridCol>
              </a:tblGrid>
              <a:tr h="277707">
                <a:tc>
                  <a:txBody>
                    <a:bodyPr/>
                    <a:lstStyle/>
                    <a:p>
                      <a:r>
                        <a:rPr lang="en-US" sz="1400"/>
                        <a:t>KPI</a:t>
                      </a:r>
                    </a:p>
                  </a:txBody>
                  <a:tcPr marL="69427" marR="69427" marT="34713" marB="34713" anchor="ctr">
                    <a:lnL>
                      <a:noFill/>
                    </a:lnL>
                    <a:lnR>
                      <a:noFill/>
                    </a:lnR>
                    <a:lnT>
                      <a:noFill/>
                    </a:lnT>
                    <a:lnB>
                      <a:noFill/>
                    </a:lnB>
                    <a:noFill/>
                  </a:tcPr>
                </a:tc>
                <a:tc>
                  <a:txBody>
                    <a:bodyPr/>
                    <a:lstStyle/>
                    <a:p>
                      <a:r>
                        <a:rPr lang="en-US" sz="1400"/>
                        <a:t>Value</a:t>
                      </a:r>
                    </a:p>
                  </a:txBody>
                  <a:tcPr marL="69427" marR="69427" marT="34713" marB="34713" anchor="ctr">
                    <a:lnL>
                      <a:noFill/>
                    </a:lnL>
                    <a:lnR>
                      <a:noFill/>
                    </a:lnR>
                    <a:lnT>
                      <a:noFill/>
                    </a:lnT>
                    <a:lnB>
                      <a:noFill/>
                    </a:lnB>
                    <a:noFill/>
                  </a:tcPr>
                </a:tc>
                <a:tc>
                  <a:txBody>
                    <a:bodyPr/>
                    <a:lstStyle/>
                    <a:p>
                      <a:r>
                        <a:rPr lang="en-US" sz="1400"/>
                        <a:t>Insight</a:t>
                      </a:r>
                    </a:p>
                  </a:txBody>
                  <a:tcPr marL="69427" marR="69427" marT="34713" marB="34713" anchor="ctr">
                    <a:lnL>
                      <a:noFill/>
                    </a:lnL>
                    <a:lnR>
                      <a:noFill/>
                    </a:lnR>
                    <a:lnT>
                      <a:noFill/>
                    </a:lnT>
                    <a:lnB>
                      <a:noFill/>
                    </a:lnB>
                    <a:noFill/>
                  </a:tcPr>
                </a:tc>
                <a:extLst>
                  <a:ext uri="{0D108BD9-81ED-4DB2-BD59-A6C34878D82A}">
                    <a16:rowId xmlns:a16="http://schemas.microsoft.com/office/drawing/2014/main" val="2784265166"/>
                  </a:ext>
                </a:extLst>
              </a:tr>
              <a:tr h="485987">
                <a:tc>
                  <a:txBody>
                    <a:bodyPr/>
                    <a:lstStyle/>
                    <a:p>
                      <a:r>
                        <a:rPr lang="en-US" sz="1400" b="1"/>
                        <a:t>Total Loans</a:t>
                      </a:r>
                      <a:endParaRPr lang="en-US" sz="1400"/>
                    </a:p>
                  </a:txBody>
                  <a:tcPr marL="69427" marR="69427" marT="34713" marB="34713" anchor="ctr">
                    <a:lnL>
                      <a:noFill/>
                    </a:lnL>
                    <a:lnR>
                      <a:noFill/>
                    </a:lnR>
                    <a:lnT>
                      <a:noFill/>
                    </a:lnT>
                    <a:lnB>
                      <a:noFill/>
                    </a:lnB>
                    <a:noFill/>
                  </a:tcPr>
                </a:tc>
                <a:tc>
                  <a:txBody>
                    <a:bodyPr/>
                    <a:lstStyle/>
                    <a:p>
                      <a:r>
                        <a:rPr lang="en-US" sz="1400"/>
                        <a:t>65.5K</a:t>
                      </a:r>
                    </a:p>
                  </a:txBody>
                  <a:tcPr marL="69427" marR="69427" marT="34713" marB="34713" anchor="ctr">
                    <a:lnL>
                      <a:noFill/>
                    </a:lnL>
                    <a:lnR>
                      <a:noFill/>
                    </a:lnR>
                    <a:lnT>
                      <a:noFill/>
                    </a:lnT>
                    <a:lnB>
                      <a:noFill/>
                    </a:lnB>
                    <a:noFill/>
                  </a:tcPr>
                </a:tc>
                <a:tc>
                  <a:txBody>
                    <a:bodyPr/>
                    <a:lstStyle/>
                    <a:p>
                      <a:r>
                        <a:rPr lang="en-US" sz="1400"/>
                        <a:t>Total number of loans disbursed across branches.</a:t>
                      </a:r>
                    </a:p>
                  </a:txBody>
                  <a:tcPr marL="69427" marR="69427" marT="34713" marB="34713" anchor="ctr">
                    <a:lnL>
                      <a:noFill/>
                    </a:lnL>
                    <a:lnR>
                      <a:noFill/>
                    </a:lnR>
                    <a:lnT>
                      <a:noFill/>
                    </a:lnT>
                    <a:lnB>
                      <a:noFill/>
                    </a:lnB>
                    <a:noFill/>
                  </a:tcPr>
                </a:tc>
                <a:extLst>
                  <a:ext uri="{0D108BD9-81ED-4DB2-BD59-A6C34878D82A}">
                    <a16:rowId xmlns:a16="http://schemas.microsoft.com/office/drawing/2014/main" val="2465016880"/>
                  </a:ext>
                </a:extLst>
              </a:tr>
              <a:tr h="485987">
                <a:tc>
                  <a:txBody>
                    <a:bodyPr/>
                    <a:lstStyle/>
                    <a:p>
                      <a:r>
                        <a:rPr lang="en-US" sz="1400" b="1"/>
                        <a:t>Total Loan Funded</a:t>
                      </a:r>
                      <a:endParaRPr lang="en-US" sz="1400"/>
                    </a:p>
                  </a:txBody>
                  <a:tcPr marL="69427" marR="69427" marT="34713" marB="34713" anchor="ctr">
                    <a:lnL>
                      <a:noFill/>
                    </a:lnL>
                    <a:lnR>
                      <a:noFill/>
                    </a:lnR>
                    <a:lnT>
                      <a:noFill/>
                    </a:lnT>
                    <a:lnB>
                      <a:noFill/>
                    </a:lnB>
                    <a:noFill/>
                  </a:tcPr>
                </a:tc>
                <a:tc>
                  <a:txBody>
                    <a:bodyPr/>
                    <a:lstStyle/>
                    <a:p>
                      <a:r>
                        <a:rPr lang="en-US" sz="1400"/>
                        <a:t>₹73.27 Cr</a:t>
                      </a:r>
                    </a:p>
                  </a:txBody>
                  <a:tcPr marL="69427" marR="69427" marT="34713" marB="34713" anchor="ctr">
                    <a:lnL>
                      <a:noFill/>
                    </a:lnL>
                    <a:lnR>
                      <a:noFill/>
                    </a:lnR>
                    <a:lnT>
                      <a:noFill/>
                    </a:lnT>
                    <a:lnB>
                      <a:noFill/>
                    </a:lnB>
                    <a:noFill/>
                  </a:tcPr>
                </a:tc>
                <a:tc>
                  <a:txBody>
                    <a:bodyPr/>
                    <a:lstStyle/>
                    <a:p>
                      <a:r>
                        <a:rPr lang="en-US" sz="1400"/>
                        <a:t>Total principal amount lent to customers.</a:t>
                      </a:r>
                    </a:p>
                  </a:txBody>
                  <a:tcPr marL="69427" marR="69427" marT="34713" marB="34713" anchor="ctr">
                    <a:lnL>
                      <a:noFill/>
                    </a:lnL>
                    <a:lnR>
                      <a:noFill/>
                    </a:lnR>
                    <a:lnT>
                      <a:noFill/>
                    </a:lnT>
                    <a:lnB>
                      <a:noFill/>
                    </a:lnB>
                    <a:noFill/>
                  </a:tcPr>
                </a:tc>
                <a:extLst>
                  <a:ext uri="{0D108BD9-81ED-4DB2-BD59-A6C34878D82A}">
                    <a16:rowId xmlns:a16="http://schemas.microsoft.com/office/drawing/2014/main" val="915762151"/>
                  </a:ext>
                </a:extLst>
              </a:tr>
              <a:tr h="277707">
                <a:tc>
                  <a:txBody>
                    <a:bodyPr/>
                    <a:lstStyle/>
                    <a:p>
                      <a:r>
                        <a:rPr lang="en-US" sz="1400" b="1"/>
                        <a:t>Total Collection</a:t>
                      </a:r>
                      <a:endParaRPr lang="en-US" sz="1400"/>
                    </a:p>
                  </a:txBody>
                  <a:tcPr marL="69427" marR="69427" marT="34713" marB="34713" anchor="ctr">
                    <a:lnL>
                      <a:noFill/>
                    </a:lnL>
                    <a:lnR>
                      <a:noFill/>
                    </a:lnR>
                    <a:lnT>
                      <a:noFill/>
                    </a:lnT>
                    <a:lnB>
                      <a:noFill/>
                    </a:lnB>
                    <a:noFill/>
                  </a:tcPr>
                </a:tc>
                <a:tc>
                  <a:txBody>
                    <a:bodyPr/>
                    <a:lstStyle/>
                    <a:p>
                      <a:r>
                        <a:rPr lang="en-US" sz="1400"/>
                        <a:t>₹81.49 Cr</a:t>
                      </a:r>
                    </a:p>
                  </a:txBody>
                  <a:tcPr marL="69427" marR="69427" marT="34713" marB="34713" anchor="ctr">
                    <a:lnL>
                      <a:noFill/>
                    </a:lnL>
                    <a:lnR>
                      <a:noFill/>
                    </a:lnR>
                    <a:lnT>
                      <a:noFill/>
                    </a:lnT>
                    <a:lnB>
                      <a:noFill/>
                    </a:lnB>
                    <a:noFill/>
                  </a:tcPr>
                </a:tc>
                <a:tc>
                  <a:txBody>
                    <a:bodyPr/>
                    <a:lstStyle/>
                    <a:p>
                      <a:r>
                        <a:rPr lang="en-US" sz="1400"/>
                        <a:t>Total repayments collected.</a:t>
                      </a:r>
                    </a:p>
                  </a:txBody>
                  <a:tcPr marL="69427" marR="69427" marT="34713" marB="34713" anchor="ctr">
                    <a:lnL>
                      <a:noFill/>
                    </a:lnL>
                    <a:lnR>
                      <a:noFill/>
                    </a:lnR>
                    <a:lnT>
                      <a:noFill/>
                    </a:lnT>
                    <a:lnB>
                      <a:noFill/>
                    </a:lnB>
                    <a:noFill/>
                  </a:tcPr>
                </a:tc>
                <a:extLst>
                  <a:ext uri="{0D108BD9-81ED-4DB2-BD59-A6C34878D82A}">
                    <a16:rowId xmlns:a16="http://schemas.microsoft.com/office/drawing/2014/main" val="3745872298"/>
                  </a:ext>
                </a:extLst>
              </a:tr>
              <a:tr h="277707">
                <a:tc>
                  <a:txBody>
                    <a:bodyPr/>
                    <a:lstStyle/>
                    <a:p>
                      <a:r>
                        <a:rPr lang="en-US" sz="1400" b="1"/>
                        <a:t>Total Interest Rate</a:t>
                      </a:r>
                      <a:endParaRPr lang="en-US" sz="1400"/>
                    </a:p>
                  </a:txBody>
                  <a:tcPr marL="69427" marR="69427" marT="34713" marB="34713" anchor="ctr">
                    <a:lnL>
                      <a:noFill/>
                    </a:lnL>
                    <a:lnR>
                      <a:noFill/>
                    </a:lnR>
                    <a:lnT>
                      <a:noFill/>
                    </a:lnT>
                    <a:lnB>
                      <a:noFill/>
                    </a:lnB>
                    <a:noFill/>
                  </a:tcPr>
                </a:tc>
                <a:tc>
                  <a:txBody>
                    <a:bodyPr/>
                    <a:lstStyle/>
                    <a:p>
                      <a:r>
                        <a:rPr lang="en-US" sz="1400"/>
                        <a:t>12.03%</a:t>
                      </a:r>
                    </a:p>
                  </a:txBody>
                  <a:tcPr marL="69427" marR="69427" marT="34713" marB="34713" anchor="ctr">
                    <a:lnL>
                      <a:noFill/>
                    </a:lnL>
                    <a:lnR>
                      <a:noFill/>
                    </a:lnR>
                    <a:lnT>
                      <a:noFill/>
                    </a:lnT>
                    <a:lnB>
                      <a:noFill/>
                    </a:lnB>
                    <a:noFill/>
                  </a:tcPr>
                </a:tc>
                <a:tc>
                  <a:txBody>
                    <a:bodyPr/>
                    <a:lstStyle/>
                    <a:p>
                      <a:r>
                        <a:rPr lang="en-US" sz="1400"/>
                        <a:t>Average rate of interest on loans.</a:t>
                      </a:r>
                    </a:p>
                  </a:txBody>
                  <a:tcPr marL="69427" marR="69427" marT="34713" marB="34713" anchor="ctr">
                    <a:lnL>
                      <a:noFill/>
                    </a:lnL>
                    <a:lnR>
                      <a:noFill/>
                    </a:lnR>
                    <a:lnT>
                      <a:noFill/>
                    </a:lnT>
                    <a:lnB>
                      <a:noFill/>
                    </a:lnB>
                    <a:noFill/>
                  </a:tcPr>
                </a:tc>
                <a:extLst>
                  <a:ext uri="{0D108BD9-81ED-4DB2-BD59-A6C34878D82A}">
                    <a16:rowId xmlns:a16="http://schemas.microsoft.com/office/drawing/2014/main" val="646271768"/>
                  </a:ext>
                </a:extLst>
              </a:tr>
              <a:tr h="277707">
                <a:tc>
                  <a:txBody>
                    <a:bodyPr/>
                    <a:lstStyle/>
                    <a:p>
                      <a:r>
                        <a:rPr lang="en-US" sz="1400" b="1"/>
                        <a:t>Delinquent Loan Rate</a:t>
                      </a:r>
                      <a:endParaRPr lang="en-US" sz="1400"/>
                    </a:p>
                  </a:txBody>
                  <a:tcPr marL="69427" marR="69427" marT="34713" marB="34713" anchor="ctr">
                    <a:lnL>
                      <a:noFill/>
                    </a:lnL>
                    <a:lnR>
                      <a:noFill/>
                    </a:lnR>
                    <a:lnT>
                      <a:noFill/>
                    </a:lnT>
                    <a:lnB>
                      <a:noFill/>
                    </a:lnB>
                    <a:noFill/>
                  </a:tcPr>
                </a:tc>
                <a:tc>
                  <a:txBody>
                    <a:bodyPr/>
                    <a:lstStyle/>
                    <a:p>
                      <a:r>
                        <a:rPr lang="en-US" sz="1400"/>
                        <a:t>10.8%</a:t>
                      </a:r>
                    </a:p>
                  </a:txBody>
                  <a:tcPr marL="69427" marR="69427" marT="34713" marB="34713" anchor="ctr">
                    <a:lnL>
                      <a:noFill/>
                    </a:lnL>
                    <a:lnR>
                      <a:noFill/>
                    </a:lnR>
                    <a:lnT>
                      <a:noFill/>
                    </a:lnT>
                    <a:lnB>
                      <a:noFill/>
                    </a:lnB>
                    <a:noFill/>
                  </a:tcPr>
                </a:tc>
                <a:tc>
                  <a:txBody>
                    <a:bodyPr/>
                    <a:lstStyle/>
                    <a:p>
                      <a:r>
                        <a:rPr lang="en-US" sz="1400"/>
                        <a:t>Portion of overdue loans.</a:t>
                      </a:r>
                    </a:p>
                  </a:txBody>
                  <a:tcPr marL="69427" marR="69427" marT="34713" marB="34713" anchor="ctr">
                    <a:lnL>
                      <a:noFill/>
                    </a:lnL>
                    <a:lnR>
                      <a:noFill/>
                    </a:lnR>
                    <a:lnT>
                      <a:noFill/>
                    </a:lnT>
                    <a:lnB>
                      <a:noFill/>
                    </a:lnB>
                    <a:noFill/>
                  </a:tcPr>
                </a:tc>
                <a:extLst>
                  <a:ext uri="{0D108BD9-81ED-4DB2-BD59-A6C34878D82A}">
                    <a16:rowId xmlns:a16="http://schemas.microsoft.com/office/drawing/2014/main" val="1425478692"/>
                  </a:ext>
                </a:extLst>
              </a:tr>
              <a:tr h="485987">
                <a:tc>
                  <a:txBody>
                    <a:bodyPr/>
                    <a:lstStyle/>
                    <a:p>
                      <a:r>
                        <a:rPr lang="en-US" sz="1400" b="1"/>
                        <a:t>Default Loan Rate</a:t>
                      </a:r>
                      <a:endParaRPr lang="en-US" sz="1400"/>
                    </a:p>
                  </a:txBody>
                  <a:tcPr marL="69427" marR="69427" marT="34713" marB="34713" anchor="ctr">
                    <a:lnL>
                      <a:noFill/>
                    </a:lnL>
                    <a:lnR>
                      <a:noFill/>
                    </a:lnR>
                    <a:lnT>
                      <a:noFill/>
                    </a:lnT>
                    <a:lnB>
                      <a:noFill/>
                    </a:lnB>
                    <a:noFill/>
                  </a:tcPr>
                </a:tc>
                <a:tc>
                  <a:txBody>
                    <a:bodyPr/>
                    <a:lstStyle/>
                    <a:p>
                      <a:r>
                        <a:rPr lang="en-US" sz="1400"/>
                        <a:t>1.6%</a:t>
                      </a:r>
                    </a:p>
                  </a:txBody>
                  <a:tcPr marL="69427" marR="69427" marT="34713" marB="34713" anchor="ctr">
                    <a:lnL>
                      <a:noFill/>
                    </a:lnL>
                    <a:lnR>
                      <a:noFill/>
                    </a:lnR>
                    <a:lnT>
                      <a:noFill/>
                    </a:lnT>
                    <a:lnB>
                      <a:noFill/>
                    </a:lnB>
                    <a:noFill/>
                  </a:tcPr>
                </a:tc>
                <a:tc>
                  <a:txBody>
                    <a:bodyPr/>
                    <a:lstStyle/>
                    <a:p>
                      <a:r>
                        <a:rPr lang="en-US" sz="1400"/>
                        <a:t>Share of loans defaulted permanently.</a:t>
                      </a:r>
                    </a:p>
                  </a:txBody>
                  <a:tcPr marL="69427" marR="69427" marT="34713" marB="34713" anchor="ctr">
                    <a:lnL>
                      <a:noFill/>
                    </a:lnL>
                    <a:lnR>
                      <a:noFill/>
                    </a:lnR>
                    <a:lnT>
                      <a:noFill/>
                    </a:lnT>
                    <a:lnB>
                      <a:noFill/>
                    </a:lnB>
                    <a:noFill/>
                  </a:tcPr>
                </a:tc>
                <a:extLst>
                  <a:ext uri="{0D108BD9-81ED-4DB2-BD59-A6C34878D82A}">
                    <a16:rowId xmlns:a16="http://schemas.microsoft.com/office/drawing/2014/main" val="3375914811"/>
                  </a:ext>
                </a:extLst>
              </a:tr>
              <a:tr h="277707">
                <a:tc>
                  <a:txBody>
                    <a:bodyPr/>
                    <a:lstStyle/>
                    <a:p>
                      <a:r>
                        <a:rPr lang="en-US" sz="1400" b="1"/>
                        <a:t>Delinquent Loan Count</a:t>
                      </a:r>
                      <a:endParaRPr lang="en-US" sz="1400"/>
                    </a:p>
                  </a:txBody>
                  <a:tcPr marL="69427" marR="69427" marT="34713" marB="34713" anchor="ctr">
                    <a:lnL>
                      <a:noFill/>
                    </a:lnL>
                    <a:lnR>
                      <a:noFill/>
                    </a:lnR>
                    <a:lnT>
                      <a:noFill/>
                    </a:lnT>
                    <a:lnB>
                      <a:noFill/>
                    </a:lnB>
                    <a:noFill/>
                  </a:tcPr>
                </a:tc>
                <a:tc>
                  <a:txBody>
                    <a:bodyPr/>
                    <a:lstStyle/>
                    <a:p>
                      <a:r>
                        <a:rPr lang="en-US" sz="1400"/>
                        <a:t>7,106</a:t>
                      </a:r>
                    </a:p>
                  </a:txBody>
                  <a:tcPr marL="69427" marR="69427" marT="34713" marB="34713" anchor="ctr">
                    <a:lnL>
                      <a:noFill/>
                    </a:lnL>
                    <a:lnR>
                      <a:noFill/>
                    </a:lnR>
                    <a:lnT>
                      <a:noFill/>
                    </a:lnT>
                    <a:lnB>
                      <a:noFill/>
                    </a:lnB>
                    <a:noFill/>
                  </a:tcPr>
                </a:tc>
                <a:tc>
                  <a:txBody>
                    <a:bodyPr/>
                    <a:lstStyle/>
                    <a:p>
                      <a:r>
                        <a:rPr lang="en-US" sz="1400"/>
                        <a:t>Number of delinquent clients.</a:t>
                      </a:r>
                    </a:p>
                  </a:txBody>
                  <a:tcPr marL="69427" marR="69427" marT="34713" marB="34713" anchor="ctr">
                    <a:lnL>
                      <a:noFill/>
                    </a:lnL>
                    <a:lnR>
                      <a:noFill/>
                    </a:lnR>
                    <a:lnT>
                      <a:noFill/>
                    </a:lnT>
                    <a:lnB>
                      <a:noFill/>
                    </a:lnB>
                    <a:noFill/>
                  </a:tcPr>
                </a:tc>
                <a:extLst>
                  <a:ext uri="{0D108BD9-81ED-4DB2-BD59-A6C34878D82A}">
                    <a16:rowId xmlns:a16="http://schemas.microsoft.com/office/drawing/2014/main" val="2062432579"/>
                  </a:ext>
                </a:extLst>
              </a:tr>
              <a:tr h="277707">
                <a:tc>
                  <a:txBody>
                    <a:bodyPr/>
                    <a:lstStyle/>
                    <a:p>
                      <a:r>
                        <a:rPr lang="en-US" sz="1400" b="1"/>
                        <a:t>Default Loan Count</a:t>
                      </a:r>
                      <a:endParaRPr lang="en-US" sz="1400"/>
                    </a:p>
                  </a:txBody>
                  <a:tcPr marL="69427" marR="69427" marT="34713" marB="34713" anchor="ctr">
                    <a:lnL>
                      <a:noFill/>
                    </a:lnL>
                    <a:lnR>
                      <a:noFill/>
                    </a:lnR>
                    <a:lnT>
                      <a:noFill/>
                    </a:lnT>
                    <a:lnB>
                      <a:noFill/>
                    </a:lnB>
                    <a:noFill/>
                  </a:tcPr>
                </a:tc>
                <a:tc>
                  <a:txBody>
                    <a:bodyPr/>
                    <a:lstStyle/>
                    <a:p>
                      <a:r>
                        <a:rPr lang="en-US" sz="1400"/>
                        <a:t>1,020</a:t>
                      </a:r>
                    </a:p>
                  </a:txBody>
                  <a:tcPr marL="69427" marR="69427" marT="34713" marB="34713" anchor="ctr">
                    <a:lnL>
                      <a:noFill/>
                    </a:lnL>
                    <a:lnR>
                      <a:noFill/>
                    </a:lnR>
                    <a:lnT>
                      <a:noFill/>
                    </a:lnT>
                    <a:lnB>
                      <a:noFill/>
                    </a:lnB>
                    <a:noFill/>
                  </a:tcPr>
                </a:tc>
                <a:tc>
                  <a:txBody>
                    <a:bodyPr/>
                    <a:lstStyle/>
                    <a:p>
                      <a:r>
                        <a:rPr lang="en-US" sz="1400" dirty="0"/>
                        <a:t>Number of clients in default.</a:t>
                      </a:r>
                    </a:p>
                  </a:txBody>
                  <a:tcPr marL="69427" marR="69427" marT="34713" marB="34713" anchor="ctr">
                    <a:lnL>
                      <a:noFill/>
                    </a:lnL>
                    <a:lnR>
                      <a:noFill/>
                    </a:lnR>
                    <a:lnT>
                      <a:noFill/>
                    </a:lnT>
                    <a:lnB>
                      <a:noFill/>
                    </a:lnB>
                    <a:noFill/>
                  </a:tcPr>
                </a:tc>
                <a:extLst>
                  <a:ext uri="{0D108BD9-81ED-4DB2-BD59-A6C34878D82A}">
                    <a16:rowId xmlns:a16="http://schemas.microsoft.com/office/drawing/2014/main" val="4067827600"/>
                  </a:ext>
                </a:extLst>
              </a:tr>
            </a:tbl>
          </a:graphicData>
        </a:graphic>
      </p:graphicFrame>
    </p:spTree>
    <p:extLst>
      <p:ext uri="{BB962C8B-B14F-4D97-AF65-F5344CB8AC3E}">
        <p14:creationId xmlns:p14="http://schemas.microsoft.com/office/powerpoint/2010/main" val="611363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C56F3-14AE-E5F5-9AFA-398D5CEEC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196EE-873B-582F-92F6-04028D08CEBA}"/>
              </a:ext>
            </a:extLst>
          </p:cNvPr>
          <p:cNvSpPr>
            <a:spLocks noGrp="1"/>
          </p:cNvSpPr>
          <p:nvPr>
            <p:ph type="title"/>
          </p:nvPr>
        </p:nvSpPr>
        <p:spPr>
          <a:xfrm>
            <a:off x="1484309" y="0"/>
            <a:ext cx="10018713" cy="1752599"/>
          </a:xfrm>
        </p:spPr>
        <p:txBody>
          <a:bodyPr>
            <a:normAutofit/>
          </a:bodyPr>
          <a:lstStyle/>
          <a:p>
            <a:r>
              <a:rPr lang="en-US" sz="3600" dirty="0">
                <a:solidFill>
                  <a:srgbClr val="0070C0"/>
                </a:solidFill>
              </a:rPr>
              <a:t>Loan Status Breakdown</a:t>
            </a:r>
            <a:endParaRPr lang="en-IN" sz="3600" dirty="0">
              <a:solidFill>
                <a:srgbClr val="0070C0"/>
              </a:solidFill>
            </a:endParaRPr>
          </a:p>
        </p:txBody>
      </p:sp>
      <p:sp>
        <p:nvSpPr>
          <p:cNvPr id="7" name="TextBox 6">
            <a:extLst>
              <a:ext uri="{FF2B5EF4-FFF2-40B4-BE49-F238E27FC236}">
                <a16:creationId xmlns:a16="http://schemas.microsoft.com/office/drawing/2014/main" id="{A010F857-6DAD-BC78-24A1-D9DC14E2C022}"/>
              </a:ext>
            </a:extLst>
          </p:cNvPr>
          <p:cNvSpPr txBox="1"/>
          <p:nvPr/>
        </p:nvSpPr>
        <p:spPr>
          <a:xfrm>
            <a:off x="3240505" y="1689301"/>
            <a:ext cx="6096000" cy="2585323"/>
          </a:xfrm>
          <a:prstGeom prst="rect">
            <a:avLst/>
          </a:prstGeom>
          <a:noFill/>
        </p:spPr>
        <p:txBody>
          <a:bodyPr wrap="square">
            <a:spAutoFit/>
          </a:bodyPr>
          <a:lstStyle/>
          <a:p>
            <a:pPr>
              <a:buFont typeface="Arial" panose="020B0604020202020204" pitchFamily="34" charset="0"/>
              <a:buChar char="•"/>
            </a:pPr>
            <a:r>
              <a:rPr lang="en-US" dirty="0"/>
              <a:t>Active Loans: 11,532</a:t>
            </a:r>
          </a:p>
          <a:p>
            <a:pPr>
              <a:buFont typeface="Arial" panose="020B0604020202020204" pitchFamily="34" charset="0"/>
              <a:buChar char="•"/>
            </a:pPr>
            <a:endParaRPr lang="en-US" dirty="0"/>
          </a:p>
          <a:p>
            <a:pPr>
              <a:buFont typeface="Arial" panose="020B0604020202020204" pitchFamily="34" charset="0"/>
              <a:buChar char="•"/>
            </a:pPr>
            <a:r>
              <a:rPr lang="en-US" dirty="0"/>
              <a:t>Fully Paid: 15,809</a:t>
            </a:r>
          </a:p>
          <a:p>
            <a:pPr>
              <a:buFont typeface="Arial" panose="020B0604020202020204" pitchFamily="34" charset="0"/>
              <a:buChar char="•"/>
            </a:pPr>
            <a:endParaRPr lang="en-US" dirty="0"/>
          </a:p>
          <a:p>
            <a:pPr>
              <a:buFont typeface="Arial" panose="020B0604020202020204" pitchFamily="34" charset="0"/>
              <a:buChar char="•"/>
            </a:pPr>
            <a:r>
              <a:rPr lang="en-US" dirty="0"/>
              <a:t>NPA: 135</a:t>
            </a:r>
          </a:p>
          <a:p>
            <a:pPr>
              <a:buFont typeface="Arial" panose="020B0604020202020204" pitchFamily="34" charset="0"/>
              <a:buChar char="•"/>
            </a:pPr>
            <a:endParaRPr lang="en-US" dirty="0"/>
          </a:p>
          <a:p>
            <a:pPr>
              <a:buFont typeface="Arial" panose="020B0604020202020204" pitchFamily="34" charset="0"/>
              <a:buChar char="•"/>
            </a:pPr>
            <a:r>
              <a:rPr lang="en-US" dirty="0"/>
              <a:t>Home Loan Share: ₹164 Cr</a:t>
            </a:r>
          </a:p>
          <a:p>
            <a:pPr>
              <a:buFont typeface="Arial" panose="020B0604020202020204" pitchFamily="34" charset="0"/>
              <a:buChar char="•"/>
            </a:pPr>
            <a:endParaRPr lang="en-US" dirty="0"/>
          </a:p>
          <a:p>
            <a:pPr>
              <a:buFont typeface="Arial" panose="020B0604020202020204" pitchFamily="34" charset="0"/>
              <a:buChar char="•"/>
            </a:pPr>
            <a:r>
              <a:rPr lang="en-US" dirty="0"/>
              <a:t>26–35 Age Group: ₹198 Cr loans</a:t>
            </a:r>
          </a:p>
        </p:txBody>
      </p:sp>
    </p:spTree>
    <p:extLst>
      <p:ext uri="{BB962C8B-B14F-4D97-AF65-F5344CB8AC3E}">
        <p14:creationId xmlns:p14="http://schemas.microsoft.com/office/powerpoint/2010/main" val="1162536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1790FFD-B05F-4418-2684-9ED0555BCB79}"/>
              </a:ext>
            </a:extLst>
          </p:cNvPr>
          <p:cNvSpPr>
            <a:spLocks noGrp="1"/>
          </p:cNvSpPr>
          <p:nvPr>
            <p:ph type="title"/>
          </p:nvPr>
        </p:nvSpPr>
        <p:spPr>
          <a:xfrm>
            <a:off x="1086643" y="204536"/>
            <a:ext cx="10018713" cy="1151021"/>
          </a:xfrm>
        </p:spPr>
        <p:txBody>
          <a:bodyPr>
            <a:normAutofit/>
          </a:bodyPr>
          <a:lstStyle/>
          <a:p>
            <a:r>
              <a:rPr lang="en-US" sz="3600" dirty="0">
                <a:solidFill>
                  <a:srgbClr val="0070C0"/>
                </a:solidFill>
              </a:rPr>
              <a:t>Branch-Wise Revenue Performance</a:t>
            </a:r>
          </a:p>
        </p:txBody>
      </p:sp>
      <p:sp>
        <p:nvSpPr>
          <p:cNvPr id="10" name="TextBox 9">
            <a:extLst>
              <a:ext uri="{FF2B5EF4-FFF2-40B4-BE49-F238E27FC236}">
                <a16:creationId xmlns:a16="http://schemas.microsoft.com/office/drawing/2014/main" id="{19891511-B560-9BF0-CFA4-E6BBC9F374D1}"/>
              </a:ext>
            </a:extLst>
          </p:cNvPr>
          <p:cNvSpPr txBox="1"/>
          <p:nvPr/>
        </p:nvSpPr>
        <p:spPr>
          <a:xfrm>
            <a:off x="2406315" y="1355557"/>
            <a:ext cx="7379368" cy="3693319"/>
          </a:xfrm>
          <a:prstGeom prst="rect">
            <a:avLst/>
          </a:prstGeom>
          <a:noFill/>
        </p:spPr>
        <p:txBody>
          <a:bodyPr wrap="square" rtlCol="0">
            <a:spAutoFit/>
          </a:bodyPr>
          <a:lstStyle/>
          <a:p>
            <a:pPr>
              <a:buNone/>
            </a:pPr>
            <a:endParaRPr lang="en-US" b="1" dirty="0"/>
          </a:p>
          <a:p>
            <a:pPr>
              <a:buNone/>
            </a:pPr>
            <a:r>
              <a:rPr lang="en-US" b="1" dirty="0"/>
              <a:t>✅ Top Performing Branches:</a:t>
            </a:r>
          </a:p>
          <a:p>
            <a:pPr>
              <a:buNone/>
            </a:pPr>
            <a:endParaRPr lang="en-US" b="1" dirty="0"/>
          </a:p>
          <a:p>
            <a:pPr>
              <a:buFont typeface="+mj-lt"/>
              <a:buAutoNum type="arabicPeriod"/>
            </a:pPr>
            <a:r>
              <a:rPr lang="en-US" b="1" dirty="0"/>
              <a:t>Mathura</a:t>
            </a:r>
            <a:r>
              <a:rPr lang="en-US" dirty="0"/>
              <a:t> – ₹26.67 Cr </a:t>
            </a:r>
            <a:r>
              <a:rPr lang="en-US" i="1" dirty="0"/>
              <a:t>(Highest revenue generator)</a:t>
            </a:r>
            <a:endParaRPr lang="en-US" dirty="0"/>
          </a:p>
          <a:p>
            <a:pPr>
              <a:buFont typeface="+mj-lt"/>
              <a:buAutoNum type="arabicPeriod"/>
            </a:pPr>
            <a:r>
              <a:rPr lang="en-US" b="1" dirty="0" err="1"/>
              <a:t>Fatehgarh</a:t>
            </a:r>
            <a:r>
              <a:rPr lang="en-US" b="1" dirty="0"/>
              <a:t> Sahib</a:t>
            </a:r>
            <a:r>
              <a:rPr lang="en-US" dirty="0"/>
              <a:t> – ₹25.16 Cr</a:t>
            </a:r>
          </a:p>
          <a:p>
            <a:pPr>
              <a:buFont typeface="+mj-lt"/>
              <a:buAutoNum type="arabicPeriod"/>
            </a:pPr>
            <a:r>
              <a:rPr lang="en-US" b="1" dirty="0"/>
              <a:t>Haridwar</a:t>
            </a:r>
            <a:r>
              <a:rPr lang="en-US" dirty="0"/>
              <a:t> – ₹24.71 Cr</a:t>
            </a:r>
          </a:p>
          <a:p>
            <a:pPr>
              <a:buFont typeface="+mj-lt"/>
              <a:buAutoNum type="arabicPeriod"/>
            </a:pPr>
            <a:endParaRPr lang="en-US" dirty="0"/>
          </a:p>
          <a:p>
            <a:pPr>
              <a:buNone/>
            </a:pPr>
            <a:r>
              <a:rPr lang="en-US" b="1" dirty="0"/>
              <a:t>🔻 Lowest Performing Branches:</a:t>
            </a:r>
          </a:p>
          <a:p>
            <a:pPr>
              <a:buNone/>
            </a:pPr>
            <a:endParaRPr lang="en-US" b="1" dirty="0"/>
          </a:p>
          <a:p>
            <a:pPr>
              <a:buFont typeface="+mj-lt"/>
              <a:buAutoNum type="arabicPeriod"/>
            </a:pPr>
            <a:r>
              <a:rPr lang="en-US" b="1" dirty="0"/>
              <a:t>Agra</a:t>
            </a:r>
            <a:r>
              <a:rPr lang="en-US" dirty="0"/>
              <a:t> – ₹18.40 Cr </a:t>
            </a:r>
            <a:r>
              <a:rPr lang="en-US" i="1" dirty="0"/>
              <a:t>(Lowest revenue among the listed branches)</a:t>
            </a:r>
            <a:endParaRPr lang="en-US" dirty="0"/>
          </a:p>
          <a:p>
            <a:pPr>
              <a:buFont typeface="+mj-lt"/>
              <a:buAutoNum type="arabicPeriod"/>
            </a:pPr>
            <a:r>
              <a:rPr lang="en-US" b="1" dirty="0" err="1"/>
              <a:t>Khordha</a:t>
            </a:r>
            <a:r>
              <a:rPr lang="en-US" dirty="0"/>
              <a:t> – ₹18.22 Cr</a:t>
            </a:r>
          </a:p>
          <a:p>
            <a:pPr>
              <a:buFont typeface="+mj-lt"/>
              <a:buAutoNum type="arabicPeriod"/>
            </a:pPr>
            <a:r>
              <a:rPr lang="en-US" b="1" dirty="0" err="1"/>
              <a:t>Behroh</a:t>
            </a:r>
            <a:r>
              <a:rPr lang="en-US" dirty="0"/>
              <a:t> – ₹19.47 Cr</a:t>
            </a:r>
          </a:p>
          <a:p>
            <a:endParaRPr lang="en-US" dirty="0"/>
          </a:p>
        </p:txBody>
      </p:sp>
    </p:spTree>
    <p:extLst>
      <p:ext uri="{BB962C8B-B14F-4D97-AF65-F5344CB8AC3E}">
        <p14:creationId xmlns:p14="http://schemas.microsoft.com/office/powerpoint/2010/main" val="3894158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1F055-7E68-6426-FDE7-438BC73933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9571605-79C1-0D57-7D6A-BA2EB00987D8}"/>
              </a:ext>
            </a:extLst>
          </p:cNvPr>
          <p:cNvSpPr>
            <a:spLocks noGrp="1"/>
          </p:cNvSpPr>
          <p:nvPr>
            <p:ph type="title"/>
          </p:nvPr>
        </p:nvSpPr>
        <p:spPr>
          <a:xfrm>
            <a:off x="1086643" y="204536"/>
            <a:ext cx="10018713" cy="1151021"/>
          </a:xfrm>
        </p:spPr>
        <p:txBody>
          <a:bodyPr/>
          <a:lstStyle/>
          <a:p>
            <a:r>
              <a:rPr lang="en-US" sz="3600" dirty="0">
                <a:solidFill>
                  <a:srgbClr val="0070C0"/>
                </a:solidFill>
              </a:rPr>
              <a:t>Product Group-Wise Loan Distribution</a:t>
            </a:r>
          </a:p>
        </p:txBody>
      </p:sp>
      <p:sp>
        <p:nvSpPr>
          <p:cNvPr id="10" name="TextBox 9">
            <a:extLst>
              <a:ext uri="{FF2B5EF4-FFF2-40B4-BE49-F238E27FC236}">
                <a16:creationId xmlns:a16="http://schemas.microsoft.com/office/drawing/2014/main" id="{B6AD7AF9-33C3-C812-7BD3-19E539089F6A}"/>
              </a:ext>
            </a:extLst>
          </p:cNvPr>
          <p:cNvSpPr txBox="1"/>
          <p:nvPr/>
        </p:nvSpPr>
        <p:spPr>
          <a:xfrm>
            <a:off x="2406315" y="1556084"/>
            <a:ext cx="7379368" cy="3970318"/>
          </a:xfrm>
          <a:prstGeom prst="rect">
            <a:avLst/>
          </a:prstGeom>
          <a:noFill/>
        </p:spPr>
        <p:txBody>
          <a:bodyPr wrap="square" rtlCol="0">
            <a:spAutoFit/>
          </a:bodyPr>
          <a:lstStyle/>
          <a:p>
            <a:pPr>
              <a:buNone/>
            </a:pPr>
            <a:endParaRPr lang="en-US" dirty="0"/>
          </a:p>
          <a:p>
            <a:pPr>
              <a:buNone/>
            </a:pPr>
            <a:r>
              <a:rPr lang="en-US" b="1" dirty="0"/>
              <a:t>✅ Top Performing Loan Products:</a:t>
            </a:r>
          </a:p>
          <a:p>
            <a:pPr>
              <a:buNone/>
            </a:pPr>
            <a:endParaRPr lang="en-US" b="1" dirty="0"/>
          </a:p>
          <a:p>
            <a:pPr>
              <a:buFont typeface="+mj-lt"/>
              <a:buAutoNum type="arabicPeriod"/>
            </a:pPr>
            <a:r>
              <a:rPr lang="en-US" b="1" dirty="0"/>
              <a:t>Home Loan</a:t>
            </a:r>
            <a:r>
              <a:rPr lang="en-US" dirty="0"/>
              <a:t> – ₹278.26 Cr </a:t>
            </a:r>
            <a:r>
              <a:rPr lang="en-US" i="1" dirty="0"/>
              <a:t>(Dominant product with almost double the next category)</a:t>
            </a:r>
            <a:endParaRPr lang="en-US" dirty="0"/>
          </a:p>
          <a:p>
            <a:pPr>
              <a:buFont typeface="+mj-lt"/>
              <a:buAutoNum type="arabicPeriod"/>
            </a:pPr>
            <a:r>
              <a:rPr lang="en-US" b="1" dirty="0"/>
              <a:t>Services</a:t>
            </a:r>
            <a:r>
              <a:rPr lang="en-US" dirty="0"/>
              <a:t> – ₹155.53 Cr</a:t>
            </a:r>
          </a:p>
          <a:p>
            <a:pPr>
              <a:buFont typeface="+mj-lt"/>
              <a:buAutoNum type="arabicPeriod"/>
            </a:pPr>
            <a:r>
              <a:rPr lang="en-US" b="1" dirty="0"/>
              <a:t>Business</a:t>
            </a:r>
            <a:r>
              <a:rPr lang="en-US" dirty="0"/>
              <a:t> – ₹82.54 Cr</a:t>
            </a:r>
          </a:p>
          <a:p>
            <a:pPr>
              <a:buFont typeface="+mj-lt"/>
              <a:buAutoNum type="arabicPeriod"/>
            </a:pPr>
            <a:endParaRPr lang="en-US" dirty="0"/>
          </a:p>
          <a:p>
            <a:pPr>
              <a:buNone/>
            </a:pPr>
            <a:r>
              <a:rPr lang="en-US" b="1" dirty="0"/>
              <a:t>🔻 Lowest Performing Loan Products:</a:t>
            </a:r>
          </a:p>
          <a:p>
            <a:pPr>
              <a:buNone/>
            </a:pPr>
            <a:endParaRPr lang="en-US" b="1" dirty="0"/>
          </a:p>
          <a:p>
            <a:pPr>
              <a:buFont typeface="+mj-lt"/>
              <a:buAutoNum type="arabicPeriod"/>
            </a:pPr>
            <a:r>
              <a:rPr lang="en-US" b="1" dirty="0"/>
              <a:t>Festive Loan-Product</a:t>
            </a:r>
            <a:r>
              <a:rPr lang="en-US" dirty="0"/>
              <a:t> – ₹10.95 Cr </a:t>
            </a:r>
            <a:r>
              <a:rPr lang="en-US" i="1" dirty="0"/>
              <a:t>(Lowest funded product)</a:t>
            </a:r>
            <a:endParaRPr lang="en-US" dirty="0"/>
          </a:p>
          <a:p>
            <a:pPr>
              <a:buFont typeface="+mj-lt"/>
              <a:buAutoNum type="arabicPeriod"/>
            </a:pPr>
            <a:r>
              <a:rPr lang="en-US" b="1" dirty="0"/>
              <a:t>Mobile Phones</a:t>
            </a:r>
            <a:r>
              <a:rPr lang="en-US" dirty="0"/>
              <a:t> – ₹11.90 Cr</a:t>
            </a:r>
          </a:p>
          <a:p>
            <a:pPr>
              <a:buFont typeface="+mj-lt"/>
              <a:buAutoNum type="arabicPeriod"/>
            </a:pPr>
            <a:r>
              <a:rPr lang="en-US" b="1" dirty="0"/>
              <a:t>Emergency Loan</a:t>
            </a:r>
            <a:r>
              <a:rPr lang="en-US" dirty="0"/>
              <a:t> – ₹25.83 Cr</a:t>
            </a:r>
          </a:p>
          <a:p>
            <a:pPr marL="742950" lvl="1" indent="-285750">
              <a:buFont typeface="Arial" panose="020B0604020202020204" pitchFamily="34" charset="0"/>
              <a:buChar char="•"/>
            </a:pPr>
            <a:r>
              <a:rPr lang="en-US" dirty="0"/>
              <a:t>.</a:t>
            </a:r>
          </a:p>
        </p:txBody>
      </p:sp>
    </p:spTree>
    <p:extLst>
      <p:ext uri="{BB962C8B-B14F-4D97-AF65-F5344CB8AC3E}">
        <p14:creationId xmlns:p14="http://schemas.microsoft.com/office/powerpoint/2010/main" val="3366513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70796-D7F4-EC77-08C6-D65AA571C65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2A3FFAD-ABFF-E436-9C42-D2C6B0F3E014}"/>
              </a:ext>
            </a:extLst>
          </p:cNvPr>
          <p:cNvSpPr>
            <a:spLocks noGrp="1"/>
          </p:cNvSpPr>
          <p:nvPr>
            <p:ph type="title"/>
          </p:nvPr>
        </p:nvSpPr>
        <p:spPr>
          <a:xfrm>
            <a:off x="1086643" y="204536"/>
            <a:ext cx="10018713" cy="1151021"/>
          </a:xfrm>
        </p:spPr>
        <p:txBody>
          <a:bodyPr>
            <a:normAutofit/>
          </a:bodyPr>
          <a:lstStyle/>
          <a:p>
            <a:r>
              <a:rPr lang="en-US" sz="3600" dirty="0">
                <a:solidFill>
                  <a:srgbClr val="0070C0"/>
                </a:solidFill>
              </a:rPr>
              <a:t>Religion-Wise Loan Distribution</a:t>
            </a:r>
          </a:p>
        </p:txBody>
      </p:sp>
      <p:sp>
        <p:nvSpPr>
          <p:cNvPr id="10" name="TextBox 9">
            <a:extLst>
              <a:ext uri="{FF2B5EF4-FFF2-40B4-BE49-F238E27FC236}">
                <a16:creationId xmlns:a16="http://schemas.microsoft.com/office/drawing/2014/main" id="{5542EA8C-8864-E206-A80F-AD92EB9261A7}"/>
              </a:ext>
            </a:extLst>
          </p:cNvPr>
          <p:cNvSpPr txBox="1"/>
          <p:nvPr/>
        </p:nvSpPr>
        <p:spPr>
          <a:xfrm>
            <a:off x="2406315" y="1354111"/>
            <a:ext cx="7379368" cy="1754326"/>
          </a:xfrm>
          <a:prstGeom prst="rect">
            <a:avLst/>
          </a:prstGeom>
          <a:noFill/>
        </p:spPr>
        <p:txBody>
          <a:bodyPr wrap="square" rtlCol="0">
            <a:spAutoFit/>
          </a:bodyPr>
          <a:lstStyle/>
          <a:p>
            <a:pPr>
              <a:buNone/>
            </a:pPr>
            <a:endParaRPr lang="en-US" dirty="0"/>
          </a:p>
          <a:p>
            <a:pPr>
              <a:buFont typeface="Arial" panose="020B0604020202020204" pitchFamily="34" charset="0"/>
              <a:buChar char="•"/>
            </a:pPr>
            <a:r>
              <a:rPr lang="en-US" b="1" dirty="0"/>
              <a:t>Hindu:</a:t>
            </a:r>
            <a:r>
              <a:rPr lang="en-US" dirty="0"/>
              <a:t> 75% of total loans</a:t>
            </a:r>
          </a:p>
          <a:p>
            <a:pPr>
              <a:buFont typeface="Arial" panose="020B0604020202020204" pitchFamily="34" charset="0"/>
              <a:buChar char="•"/>
            </a:pPr>
            <a:endParaRPr lang="en-US" dirty="0"/>
          </a:p>
          <a:p>
            <a:pPr>
              <a:buFont typeface="Arial" panose="020B0604020202020204" pitchFamily="34" charset="0"/>
              <a:buChar char="•"/>
            </a:pPr>
            <a:r>
              <a:rPr lang="en-US" dirty="0"/>
              <a:t>Followed by </a:t>
            </a:r>
            <a:r>
              <a:rPr lang="en-US" b="1" dirty="0"/>
              <a:t>Sikh (13%)</a:t>
            </a:r>
            <a:r>
              <a:rPr lang="en-US" dirty="0"/>
              <a:t>, </a:t>
            </a:r>
            <a:r>
              <a:rPr lang="en-US" b="1" dirty="0"/>
              <a:t>Muslim (11%)</a:t>
            </a:r>
            <a:r>
              <a:rPr lang="en-US" dirty="0"/>
              <a:t>, and others.</a:t>
            </a:r>
          </a:p>
          <a:p>
            <a:pPr>
              <a:buFont typeface="Arial" panose="020B0604020202020204" pitchFamily="34" charset="0"/>
              <a:buChar char="•"/>
            </a:pPr>
            <a:endParaRPr lang="en-US" dirty="0"/>
          </a:p>
          <a:p>
            <a:pPr>
              <a:buFont typeface="Arial" panose="020B0604020202020204" pitchFamily="34" charset="0"/>
              <a:buChar char="•"/>
            </a:pPr>
            <a:r>
              <a:rPr lang="en-US" dirty="0"/>
              <a:t>Insight: Hindu and 26–35 age group are the dominant borrower segments.</a:t>
            </a:r>
          </a:p>
        </p:txBody>
      </p:sp>
      <p:sp>
        <p:nvSpPr>
          <p:cNvPr id="5" name="Title 5">
            <a:extLst>
              <a:ext uri="{FF2B5EF4-FFF2-40B4-BE49-F238E27FC236}">
                <a16:creationId xmlns:a16="http://schemas.microsoft.com/office/drawing/2014/main" id="{8ED65AC8-751F-7B45-2799-8023C229322A}"/>
              </a:ext>
            </a:extLst>
          </p:cNvPr>
          <p:cNvSpPr txBox="1">
            <a:spLocks/>
          </p:cNvSpPr>
          <p:nvPr/>
        </p:nvSpPr>
        <p:spPr>
          <a:xfrm>
            <a:off x="1006432" y="3108437"/>
            <a:ext cx="10018713" cy="1151021"/>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dirty="0">
                <a:solidFill>
                  <a:srgbClr val="0070C0"/>
                </a:solidFill>
              </a:rPr>
              <a:t>Age Group-Wise Loan</a:t>
            </a:r>
          </a:p>
        </p:txBody>
      </p:sp>
      <p:sp>
        <p:nvSpPr>
          <p:cNvPr id="7" name="TextBox 6">
            <a:extLst>
              <a:ext uri="{FF2B5EF4-FFF2-40B4-BE49-F238E27FC236}">
                <a16:creationId xmlns:a16="http://schemas.microsoft.com/office/drawing/2014/main" id="{EC8F49C3-54BE-6826-5E2B-582BF31F49D8}"/>
              </a:ext>
            </a:extLst>
          </p:cNvPr>
          <p:cNvSpPr txBox="1"/>
          <p:nvPr/>
        </p:nvSpPr>
        <p:spPr>
          <a:xfrm>
            <a:off x="2406315" y="4161479"/>
            <a:ext cx="7379368" cy="1200329"/>
          </a:xfrm>
          <a:prstGeom prst="rect">
            <a:avLst/>
          </a:prstGeom>
          <a:noFill/>
        </p:spPr>
        <p:txBody>
          <a:bodyPr wrap="square" rtlCol="0">
            <a:spAutoFit/>
          </a:bodyPr>
          <a:lstStyle/>
          <a:p>
            <a:pPr>
              <a:buNone/>
            </a:pPr>
            <a:endParaRPr lang="en-US" b="1" dirty="0"/>
          </a:p>
          <a:p>
            <a:pPr>
              <a:buFont typeface="Arial" panose="020B0604020202020204" pitchFamily="34" charset="0"/>
              <a:buChar char="•"/>
            </a:pPr>
            <a:r>
              <a:rPr lang="en-US" dirty="0"/>
              <a:t>Age </a:t>
            </a:r>
            <a:r>
              <a:rPr lang="en-US" b="1" dirty="0"/>
              <a:t>26–35</a:t>
            </a:r>
            <a:r>
              <a:rPr lang="en-US" dirty="0"/>
              <a:t> has the highest loan amount: ₹261 Cr</a:t>
            </a:r>
          </a:p>
          <a:p>
            <a:pPr>
              <a:buFont typeface="Arial" panose="020B0604020202020204" pitchFamily="34" charset="0"/>
              <a:buChar char="•"/>
            </a:pPr>
            <a:endParaRPr lang="en-US" dirty="0"/>
          </a:p>
          <a:p>
            <a:pPr>
              <a:buFont typeface="Arial" panose="020B0604020202020204" pitchFamily="34" charset="0"/>
              <a:buChar char="•"/>
            </a:pPr>
            <a:r>
              <a:rPr lang="en-US" dirty="0"/>
              <a:t>Followed by </a:t>
            </a:r>
            <a:r>
              <a:rPr lang="en-US" b="1" dirty="0"/>
              <a:t>36–45</a:t>
            </a:r>
            <a:r>
              <a:rPr lang="en-US" dirty="0"/>
              <a:t> and </a:t>
            </a:r>
            <a:r>
              <a:rPr lang="en-US" b="1" dirty="0"/>
              <a:t>46–55</a:t>
            </a:r>
            <a:r>
              <a:rPr lang="en-US" dirty="0"/>
              <a:t> groups</a:t>
            </a:r>
          </a:p>
        </p:txBody>
      </p:sp>
    </p:spTree>
    <p:extLst>
      <p:ext uri="{BB962C8B-B14F-4D97-AF65-F5344CB8AC3E}">
        <p14:creationId xmlns:p14="http://schemas.microsoft.com/office/powerpoint/2010/main" val="1727547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623B7-762E-0607-9BE7-61D0EEFF426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D6DE950-F2EB-BE68-C7D6-9BC290031665}"/>
              </a:ext>
            </a:extLst>
          </p:cNvPr>
          <p:cNvSpPr>
            <a:spLocks noGrp="1"/>
          </p:cNvSpPr>
          <p:nvPr>
            <p:ph type="title"/>
          </p:nvPr>
        </p:nvSpPr>
        <p:spPr>
          <a:xfrm>
            <a:off x="1086643" y="204536"/>
            <a:ext cx="10018713" cy="1151021"/>
          </a:xfrm>
        </p:spPr>
        <p:txBody>
          <a:bodyPr/>
          <a:lstStyle/>
          <a:p>
            <a:r>
              <a:rPr lang="en-US" sz="3600" dirty="0">
                <a:solidFill>
                  <a:srgbClr val="0070C0"/>
                </a:solidFill>
              </a:rPr>
              <a:t>State-Wise Loan Distribution</a:t>
            </a:r>
          </a:p>
        </p:txBody>
      </p:sp>
      <p:sp>
        <p:nvSpPr>
          <p:cNvPr id="10" name="TextBox 9">
            <a:extLst>
              <a:ext uri="{FF2B5EF4-FFF2-40B4-BE49-F238E27FC236}">
                <a16:creationId xmlns:a16="http://schemas.microsoft.com/office/drawing/2014/main" id="{0A3C8C6E-D0EF-C7F8-29E5-59CE67791763}"/>
              </a:ext>
            </a:extLst>
          </p:cNvPr>
          <p:cNvSpPr txBox="1"/>
          <p:nvPr/>
        </p:nvSpPr>
        <p:spPr>
          <a:xfrm>
            <a:off x="2334127" y="1355557"/>
            <a:ext cx="7379368" cy="1754326"/>
          </a:xfrm>
          <a:prstGeom prst="rect">
            <a:avLst/>
          </a:prstGeom>
          <a:noFill/>
        </p:spPr>
        <p:txBody>
          <a:bodyPr wrap="square" rtlCol="0">
            <a:spAutoFit/>
          </a:bodyPr>
          <a:lstStyle/>
          <a:p>
            <a:pPr>
              <a:buNone/>
            </a:pPr>
            <a:endParaRPr lang="en-US" b="1" dirty="0"/>
          </a:p>
          <a:p>
            <a:pPr>
              <a:buFont typeface="Arial" panose="020B0604020202020204" pitchFamily="34" charset="0"/>
              <a:buChar char="•"/>
            </a:pPr>
            <a:r>
              <a:rPr lang="en-US" b="1" dirty="0"/>
              <a:t>Rajasthan:</a:t>
            </a:r>
            <a:r>
              <a:rPr lang="en-US" dirty="0"/>
              <a:t> ₹138.46 Cr (Highest)</a:t>
            </a:r>
          </a:p>
          <a:p>
            <a:pPr>
              <a:buFont typeface="Arial" panose="020B0604020202020204" pitchFamily="34" charset="0"/>
              <a:buChar char="•"/>
            </a:pPr>
            <a:endParaRPr lang="en-US" dirty="0"/>
          </a:p>
          <a:p>
            <a:pPr>
              <a:buFont typeface="Arial" panose="020B0604020202020204" pitchFamily="34" charset="0"/>
              <a:buChar char="•"/>
            </a:pPr>
            <a:r>
              <a:rPr lang="en-US" b="1" dirty="0"/>
              <a:t>Madhya Pradesh:</a:t>
            </a:r>
            <a:r>
              <a:rPr lang="en-US" dirty="0"/>
              <a:t> ₹3.00 Cr</a:t>
            </a:r>
          </a:p>
          <a:p>
            <a:pPr>
              <a:buFont typeface="Arial" panose="020B0604020202020204" pitchFamily="34" charset="0"/>
              <a:buChar char="•"/>
            </a:pPr>
            <a:endParaRPr lang="en-US" dirty="0"/>
          </a:p>
          <a:p>
            <a:pPr>
              <a:buFont typeface="Arial" panose="020B0604020202020204" pitchFamily="34" charset="0"/>
              <a:buChar char="•"/>
            </a:pPr>
            <a:r>
              <a:rPr lang="en-US" b="1" dirty="0"/>
              <a:t>Odisha:</a:t>
            </a:r>
            <a:r>
              <a:rPr lang="en-US" dirty="0"/>
              <a:t> ₹8.47 Cr</a:t>
            </a:r>
          </a:p>
        </p:txBody>
      </p:sp>
      <p:sp>
        <p:nvSpPr>
          <p:cNvPr id="2" name="Title 5">
            <a:extLst>
              <a:ext uri="{FF2B5EF4-FFF2-40B4-BE49-F238E27FC236}">
                <a16:creationId xmlns:a16="http://schemas.microsoft.com/office/drawing/2014/main" id="{B3B6BFE3-8676-C436-7DB4-2D0492738C56}"/>
              </a:ext>
            </a:extLst>
          </p:cNvPr>
          <p:cNvSpPr txBox="1">
            <a:spLocks/>
          </p:cNvSpPr>
          <p:nvPr/>
        </p:nvSpPr>
        <p:spPr>
          <a:xfrm>
            <a:off x="1014454" y="3052010"/>
            <a:ext cx="10018713" cy="1151021"/>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dirty="0">
                <a:solidFill>
                  <a:srgbClr val="0070C0"/>
                </a:solidFill>
              </a:rPr>
              <a:t>Loan Grade Distribution</a:t>
            </a:r>
          </a:p>
        </p:txBody>
      </p:sp>
      <p:sp>
        <p:nvSpPr>
          <p:cNvPr id="3" name="TextBox 2">
            <a:extLst>
              <a:ext uri="{FF2B5EF4-FFF2-40B4-BE49-F238E27FC236}">
                <a16:creationId xmlns:a16="http://schemas.microsoft.com/office/drawing/2014/main" id="{AFF408D7-64B9-7942-F77B-72E5E8E83E16}"/>
              </a:ext>
            </a:extLst>
          </p:cNvPr>
          <p:cNvSpPr txBox="1"/>
          <p:nvPr/>
        </p:nvSpPr>
        <p:spPr>
          <a:xfrm>
            <a:off x="2334127" y="4437004"/>
            <a:ext cx="7379368" cy="369332"/>
          </a:xfrm>
          <a:prstGeom prst="rect">
            <a:avLst/>
          </a:prstGeom>
          <a:noFill/>
        </p:spPr>
        <p:txBody>
          <a:bodyPr wrap="square" rtlCol="0">
            <a:spAutoFit/>
          </a:bodyPr>
          <a:lstStyle/>
          <a:p>
            <a:pPr>
              <a:buNone/>
            </a:pPr>
            <a:r>
              <a:rPr lang="en-US" dirty="0"/>
              <a:t>Majority of loans are in </a:t>
            </a:r>
            <a:r>
              <a:rPr lang="en-US" b="1" dirty="0"/>
              <a:t>Grades A, B, and C</a:t>
            </a:r>
            <a:r>
              <a:rPr lang="en-US" dirty="0"/>
              <a:t>, comprising ~64%</a:t>
            </a:r>
          </a:p>
        </p:txBody>
      </p:sp>
    </p:spTree>
    <p:extLst>
      <p:ext uri="{BB962C8B-B14F-4D97-AF65-F5344CB8AC3E}">
        <p14:creationId xmlns:p14="http://schemas.microsoft.com/office/powerpoint/2010/main" val="1710023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8F4B6-1AFA-D1E6-02C1-A89CB80209A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AC0025C-609F-A1FE-6D5D-A5F7607B3101}"/>
              </a:ext>
            </a:extLst>
          </p:cNvPr>
          <p:cNvSpPr>
            <a:spLocks noGrp="1"/>
          </p:cNvSpPr>
          <p:nvPr>
            <p:ph type="title"/>
          </p:nvPr>
        </p:nvSpPr>
        <p:spPr>
          <a:xfrm>
            <a:off x="1086643" y="204536"/>
            <a:ext cx="10018713" cy="1151021"/>
          </a:xfrm>
        </p:spPr>
        <p:txBody>
          <a:bodyPr/>
          <a:lstStyle/>
          <a:p>
            <a:r>
              <a:rPr lang="en-US" sz="3600" dirty="0">
                <a:solidFill>
                  <a:srgbClr val="0070C0"/>
                </a:solidFill>
              </a:rPr>
              <a:t>Disbursement Trend</a:t>
            </a:r>
          </a:p>
        </p:txBody>
      </p:sp>
      <p:sp>
        <p:nvSpPr>
          <p:cNvPr id="10" name="TextBox 9">
            <a:extLst>
              <a:ext uri="{FF2B5EF4-FFF2-40B4-BE49-F238E27FC236}">
                <a16:creationId xmlns:a16="http://schemas.microsoft.com/office/drawing/2014/main" id="{3EA15279-93B8-20F8-380F-9496E7FAEF3F}"/>
              </a:ext>
            </a:extLst>
          </p:cNvPr>
          <p:cNvSpPr txBox="1"/>
          <p:nvPr/>
        </p:nvSpPr>
        <p:spPr>
          <a:xfrm>
            <a:off x="2334126" y="1355557"/>
            <a:ext cx="7379368" cy="1200329"/>
          </a:xfrm>
          <a:prstGeom prst="rect">
            <a:avLst/>
          </a:prstGeom>
          <a:noFill/>
        </p:spPr>
        <p:txBody>
          <a:bodyPr wrap="square" rtlCol="0">
            <a:spAutoFit/>
          </a:bodyPr>
          <a:lstStyle/>
          <a:p>
            <a:pPr>
              <a:buNone/>
            </a:pPr>
            <a:endParaRPr lang="en-US" b="1" dirty="0"/>
          </a:p>
          <a:p>
            <a:pPr>
              <a:buFont typeface="Arial" panose="020B0604020202020204" pitchFamily="34" charset="0"/>
              <a:buChar char="•"/>
            </a:pPr>
            <a:r>
              <a:rPr lang="en-US" dirty="0"/>
              <a:t>Highest disbursement was in </a:t>
            </a:r>
            <a:r>
              <a:rPr lang="en-US" b="1" dirty="0"/>
              <a:t>FY 2019</a:t>
            </a:r>
            <a:r>
              <a:rPr lang="en-US" dirty="0"/>
              <a:t> (56.97%)</a:t>
            </a:r>
          </a:p>
          <a:p>
            <a:pPr>
              <a:buFont typeface="Arial" panose="020B0604020202020204" pitchFamily="34" charset="0"/>
              <a:buChar char="•"/>
            </a:pPr>
            <a:endParaRPr lang="en-US" dirty="0"/>
          </a:p>
          <a:p>
            <a:pPr>
              <a:buFont typeface="Arial" panose="020B0604020202020204" pitchFamily="34" charset="0"/>
              <a:buChar char="•"/>
            </a:pPr>
            <a:r>
              <a:rPr lang="en-US" dirty="0"/>
              <a:t>No disbursement in the latest FY</a:t>
            </a:r>
          </a:p>
        </p:txBody>
      </p:sp>
      <p:sp>
        <p:nvSpPr>
          <p:cNvPr id="2" name="Title 5">
            <a:extLst>
              <a:ext uri="{FF2B5EF4-FFF2-40B4-BE49-F238E27FC236}">
                <a16:creationId xmlns:a16="http://schemas.microsoft.com/office/drawing/2014/main" id="{39267BFA-0891-7C13-F372-74A0DF3B5C75}"/>
              </a:ext>
            </a:extLst>
          </p:cNvPr>
          <p:cNvSpPr txBox="1">
            <a:spLocks/>
          </p:cNvSpPr>
          <p:nvPr/>
        </p:nvSpPr>
        <p:spPr>
          <a:xfrm>
            <a:off x="1014454" y="3052010"/>
            <a:ext cx="10018713" cy="1151021"/>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dirty="0">
                <a:solidFill>
                  <a:srgbClr val="0070C0"/>
                </a:solidFill>
              </a:rPr>
              <a:t>Loan Maturity Patterns</a:t>
            </a:r>
          </a:p>
        </p:txBody>
      </p:sp>
      <p:sp>
        <p:nvSpPr>
          <p:cNvPr id="3" name="TextBox 2">
            <a:extLst>
              <a:ext uri="{FF2B5EF4-FFF2-40B4-BE49-F238E27FC236}">
                <a16:creationId xmlns:a16="http://schemas.microsoft.com/office/drawing/2014/main" id="{78AF9497-01CA-CB53-C082-222C21EBC296}"/>
              </a:ext>
            </a:extLst>
          </p:cNvPr>
          <p:cNvSpPr txBox="1"/>
          <p:nvPr/>
        </p:nvSpPr>
        <p:spPr>
          <a:xfrm>
            <a:off x="2334127" y="4437004"/>
            <a:ext cx="7379368" cy="1200329"/>
          </a:xfrm>
          <a:prstGeom prst="rect">
            <a:avLst/>
          </a:prstGeom>
          <a:noFill/>
        </p:spPr>
        <p:txBody>
          <a:bodyPr wrap="square" rtlCol="0">
            <a:spAutoFit/>
          </a:bodyPr>
          <a:lstStyle/>
          <a:p>
            <a:pPr>
              <a:buFont typeface="Arial" panose="020B0604020202020204" pitchFamily="34" charset="0"/>
              <a:buChar char="•"/>
            </a:pPr>
            <a:r>
              <a:rPr lang="en-US" dirty="0"/>
              <a:t>Loans vary between </a:t>
            </a:r>
            <a:r>
              <a:rPr lang="en-US" b="1" dirty="0"/>
              <a:t>36 to 60 months</a:t>
            </a:r>
            <a:r>
              <a:rPr lang="en-US" dirty="0"/>
              <a:t>, with a majority in the short-term bracket.</a:t>
            </a:r>
          </a:p>
          <a:p>
            <a:pPr>
              <a:buFont typeface="Arial" panose="020B0604020202020204" pitchFamily="34" charset="0"/>
              <a:buChar char="•"/>
            </a:pPr>
            <a:endParaRPr lang="en-US" dirty="0"/>
          </a:p>
          <a:p>
            <a:pPr>
              <a:buFont typeface="Arial" panose="020B0604020202020204" pitchFamily="34" charset="0"/>
              <a:buChar char="•"/>
            </a:pPr>
            <a:r>
              <a:rPr lang="en-US" dirty="0"/>
              <a:t>Need for product structuring based on customer repayment capacity.</a:t>
            </a:r>
          </a:p>
        </p:txBody>
      </p:sp>
    </p:spTree>
    <p:extLst>
      <p:ext uri="{BB962C8B-B14F-4D97-AF65-F5344CB8AC3E}">
        <p14:creationId xmlns:p14="http://schemas.microsoft.com/office/powerpoint/2010/main" val="2353869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2844DB7-539D-E363-5542-2F223B5B9CC4}"/>
              </a:ext>
            </a:extLst>
          </p:cNvPr>
          <p:cNvSpPr txBox="1"/>
          <p:nvPr/>
        </p:nvSpPr>
        <p:spPr>
          <a:xfrm>
            <a:off x="2149641" y="120316"/>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Excel</a:t>
            </a:r>
            <a:r>
              <a:rPr lang="en-US" sz="2000" dirty="0"/>
              <a:t> </a:t>
            </a:r>
            <a:r>
              <a:rPr lang="en-US" sz="2000" b="1" dirty="0">
                <a:ln w="3175" cmpd="sng">
                  <a:noFill/>
                </a:ln>
                <a:solidFill>
                  <a:srgbClr val="0070C0"/>
                </a:solidFill>
                <a:latin typeface="+mj-lt"/>
                <a:ea typeface="+mj-ea"/>
                <a:cs typeface="+mj-cs"/>
              </a:rPr>
              <a:t>Dashboard</a:t>
            </a:r>
          </a:p>
          <a:p>
            <a:endParaRPr lang="en-US" dirty="0"/>
          </a:p>
        </p:txBody>
      </p:sp>
      <p:pic>
        <p:nvPicPr>
          <p:cNvPr id="5" name="Picture 4">
            <a:extLst>
              <a:ext uri="{FF2B5EF4-FFF2-40B4-BE49-F238E27FC236}">
                <a16:creationId xmlns:a16="http://schemas.microsoft.com/office/drawing/2014/main" id="{92AFCA12-ED7E-6259-C43C-E82CF2328147}"/>
              </a:ext>
            </a:extLst>
          </p:cNvPr>
          <p:cNvPicPr>
            <a:picLocks noChangeAspect="1"/>
          </p:cNvPicPr>
          <p:nvPr/>
        </p:nvPicPr>
        <p:blipFill>
          <a:blip r:embed="rId2"/>
          <a:stretch>
            <a:fillRect/>
          </a:stretch>
        </p:blipFill>
        <p:spPr>
          <a:xfrm>
            <a:off x="2253916" y="609600"/>
            <a:ext cx="9649326" cy="5783179"/>
          </a:xfrm>
          <a:prstGeom prst="rect">
            <a:avLst/>
          </a:prstGeom>
        </p:spPr>
      </p:pic>
    </p:spTree>
    <p:extLst>
      <p:ext uri="{BB962C8B-B14F-4D97-AF65-F5344CB8AC3E}">
        <p14:creationId xmlns:p14="http://schemas.microsoft.com/office/powerpoint/2010/main" val="338649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FDCD0D-B7BD-6563-FC34-1B25DFA79068}"/>
              </a:ext>
            </a:extLst>
          </p:cNvPr>
          <p:cNvSpPr txBox="1"/>
          <p:nvPr/>
        </p:nvSpPr>
        <p:spPr>
          <a:xfrm>
            <a:off x="2045368" y="110625"/>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Power BI</a:t>
            </a:r>
            <a:r>
              <a:rPr lang="en-US" sz="2000" dirty="0"/>
              <a:t> </a:t>
            </a:r>
            <a:r>
              <a:rPr lang="en-US" sz="2000" b="1" dirty="0">
                <a:ln w="3175" cmpd="sng">
                  <a:noFill/>
                </a:ln>
                <a:solidFill>
                  <a:srgbClr val="0070C0"/>
                </a:solidFill>
                <a:latin typeface="+mj-lt"/>
                <a:ea typeface="+mj-ea"/>
                <a:cs typeface="+mj-cs"/>
              </a:rPr>
              <a:t>Dashboard</a:t>
            </a:r>
          </a:p>
          <a:p>
            <a:endParaRPr lang="en-US" dirty="0"/>
          </a:p>
        </p:txBody>
      </p:sp>
      <p:pic>
        <p:nvPicPr>
          <p:cNvPr id="7" name="Picture 6">
            <a:extLst>
              <a:ext uri="{FF2B5EF4-FFF2-40B4-BE49-F238E27FC236}">
                <a16:creationId xmlns:a16="http://schemas.microsoft.com/office/drawing/2014/main" id="{C1C6EC6F-30B8-F930-3FEB-45E4E5A3A0FC}"/>
              </a:ext>
            </a:extLst>
          </p:cNvPr>
          <p:cNvPicPr>
            <a:picLocks noChangeAspect="1"/>
          </p:cNvPicPr>
          <p:nvPr/>
        </p:nvPicPr>
        <p:blipFill>
          <a:blip r:embed="rId2"/>
          <a:stretch>
            <a:fillRect/>
          </a:stretch>
        </p:blipFill>
        <p:spPr>
          <a:xfrm>
            <a:off x="2117558" y="521368"/>
            <a:ext cx="9817768" cy="5847348"/>
          </a:xfrm>
          <a:prstGeom prst="rect">
            <a:avLst/>
          </a:prstGeom>
        </p:spPr>
      </p:pic>
    </p:spTree>
    <p:extLst>
      <p:ext uri="{BB962C8B-B14F-4D97-AF65-F5344CB8AC3E}">
        <p14:creationId xmlns:p14="http://schemas.microsoft.com/office/powerpoint/2010/main" val="636569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A3889CE-6793-28A9-F5BC-678FA450D13F}"/>
              </a:ext>
            </a:extLst>
          </p:cNvPr>
          <p:cNvSpPr txBox="1"/>
          <p:nvPr/>
        </p:nvSpPr>
        <p:spPr>
          <a:xfrm>
            <a:off x="2149641" y="120316"/>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Tableau</a:t>
            </a:r>
            <a:r>
              <a:rPr lang="en-US" sz="2000" dirty="0"/>
              <a:t> </a:t>
            </a:r>
            <a:r>
              <a:rPr lang="en-US" sz="2000" b="1" dirty="0">
                <a:ln w="3175" cmpd="sng">
                  <a:noFill/>
                </a:ln>
                <a:solidFill>
                  <a:srgbClr val="0070C0"/>
                </a:solidFill>
                <a:latin typeface="+mj-lt"/>
                <a:ea typeface="+mj-ea"/>
                <a:cs typeface="+mj-cs"/>
              </a:rPr>
              <a:t>Dashboard</a:t>
            </a:r>
          </a:p>
          <a:p>
            <a:endParaRPr lang="en-US" dirty="0"/>
          </a:p>
        </p:txBody>
      </p:sp>
      <p:pic>
        <p:nvPicPr>
          <p:cNvPr id="7" name="Picture 6">
            <a:extLst>
              <a:ext uri="{FF2B5EF4-FFF2-40B4-BE49-F238E27FC236}">
                <a16:creationId xmlns:a16="http://schemas.microsoft.com/office/drawing/2014/main" id="{31AD8F21-61A9-C574-17BF-25892D1F6120}"/>
              </a:ext>
            </a:extLst>
          </p:cNvPr>
          <p:cNvPicPr>
            <a:picLocks noChangeAspect="1"/>
          </p:cNvPicPr>
          <p:nvPr/>
        </p:nvPicPr>
        <p:blipFill>
          <a:blip r:embed="rId2"/>
          <a:stretch>
            <a:fillRect/>
          </a:stretch>
        </p:blipFill>
        <p:spPr>
          <a:xfrm>
            <a:off x="2261937" y="609600"/>
            <a:ext cx="9751620" cy="5783179"/>
          </a:xfrm>
          <a:prstGeom prst="rect">
            <a:avLst/>
          </a:prstGeom>
        </p:spPr>
      </p:pic>
    </p:spTree>
    <p:extLst>
      <p:ext uri="{BB962C8B-B14F-4D97-AF65-F5344CB8AC3E}">
        <p14:creationId xmlns:p14="http://schemas.microsoft.com/office/powerpoint/2010/main" val="2799254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314AF2F8-DE6D-C502-0566-41ADA27489D9}"/>
              </a:ext>
            </a:extLst>
          </p:cNvPr>
          <p:cNvSpPr txBox="1"/>
          <p:nvPr/>
        </p:nvSpPr>
        <p:spPr>
          <a:xfrm>
            <a:off x="2149641" y="120316"/>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SQL Queries</a:t>
            </a:r>
          </a:p>
          <a:p>
            <a:endParaRPr lang="en-US" dirty="0"/>
          </a:p>
        </p:txBody>
      </p:sp>
      <p:pic>
        <p:nvPicPr>
          <p:cNvPr id="24" name="Picture 23">
            <a:extLst>
              <a:ext uri="{FF2B5EF4-FFF2-40B4-BE49-F238E27FC236}">
                <a16:creationId xmlns:a16="http://schemas.microsoft.com/office/drawing/2014/main" id="{24925BA7-0938-4F05-F950-D39A674C2C38}"/>
              </a:ext>
            </a:extLst>
          </p:cNvPr>
          <p:cNvPicPr>
            <a:picLocks noChangeAspect="1"/>
          </p:cNvPicPr>
          <p:nvPr/>
        </p:nvPicPr>
        <p:blipFill>
          <a:blip r:embed="rId2"/>
          <a:stretch>
            <a:fillRect/>
          </a:stretch>
        </p:blipFill>
        <p:spPr>
          <a:xfrm>
            <a:off x="2149641" y="575865"/>
            <a:ext cx="3296654" cy="4541568"/>
          </a:xfrm>
          <a:prstGeom prst="rect">
            <a:avLst/>
          </a:prstGeom>
        </p:spPr>
      </p:pic>
      <p:pic>
        <p:nvPicPr>
          <p:cNvPr id="26" name="Picture 25">
            <a:extLst>
              <a:ext uri="{FF2B5EF4-FFF2-40B4-BE49-F238E27FC236}">
                <a16:creationId xmlns:a16="http://schemas.microsoft.com/office/drawing/2014/main" id="{8F04AAD1-D3F8-9F53-575A-D038A1236B79}"/>
              </a:ext>
            </a:extLst>
          </p:cNvPr>
          <p:cNvPicPr>
            <a:picLocks noChangeAspect="1"/>
          </p:cNvPicPr>
          <p:nvPr/>
        </p:nvPicPr>
        <p:blipFill>
          <a:blip r:embed="rId3"/>
          <a:stretch>
            <a:fillRect/>
          </a:stretch>
        </p:blipFill>
        <p:spPr>
          <a:xfrm>
            <a:off x="2149641" y="5204288"/>
            <a:ext cx="9255197" cy="1188491"/>
          </a:xfrm>
          <a:prstGeom prst="rect">
            <a:avLst/>
          </a:prstGeom>
        </p:spPr>
      </p:pic>
      <p:pic>
        <p:nvPicPr>
          <p:cNvPr id="28" name="Picture 27">
            <a:extLst>
              <a:ext uri="{FF2B5EF4-FFF2-40B4-BE49-F238E27FC236}">
                <a16:creationId xmlns:a16="http://schemas.microsoft.com/office/drawing/2014/main" id="{A029FB9D-666A-B491-C9F2-80BB8CA8560A}"/>
              </a:ext>
            </a:extLst>
          </p:cNvPr>
          <p:cNvPicPr>
            <a:picLocks noChangeAspect="1"/>
          </p:cNvPicPr>
          <p:nvPr/>
        </p:nvPicPr>
        <p:blipFill>
          <a:blip r:embed="rId4"/>
          <a:stretch>
            <a:fillRect/>
          </a:stretch>
        </p:blipFill>
        <p:spPr>
          <a:xfrm>
            <a:off x="5514519" y="575866"/>
            <a:ext cx="2943636" cy="4541568"/>
          </a:xfrm>
          <a:prstGeom prst="rect">
            <a:avLst/>
          </a:prstGeom>
        </p:spPr>
      </p:pic>
      <p:pic>
        <p:nvPicPr>
          <p:cNvPr id="30" name="Picture 29">
            <a:extLst>
              <a:ext uri="{FF2B5EF4-FFF2-40B4-BE49-F238E27FC236}">
                <a16:creationId xmlns:a16="http://schemas.microsoft.com/office/drawing/2014/main" id="{2233A197-AEAF-4B24-5E79-EE7D6A934D48}"/>
              </a:ext>
            </a:extLst>
          </p:cNvPr>
          <p:cNvPicPr>
            <a:picLocks noChangeAspect="1"/>
          </p:cNvPicPr>
          <p:nvPr/>
        </p:nvPicPr>
        <p:blipFill>
          <a:blip r:embed="rId5"/>
          <a:stretch>
            <a:fillRect/>
          </a:stretch>
        </p:blipFill>
        <p:spPr>
          <a:xfrm>
            <a:off x="8518360" y="575865"/>
            <a:ext cx="2886478" cy="4541568"/>
          </a:xfrm>
          <a:prstGeom prst="rect">
            <a:avLst/>
          </a:prstGeom>
        </p:spPr>
      </p:pic>
    </p:spTree>
    <p:extLst>
      <p:ext uri="{BB962C8B-B14F-4D97-AF65-F5344CB8AC3E}">
        <p14:creationId xmlns:p14="http://schemas.microsoft.com/office/powerpoint/2010/main" val="1573198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8BAB5-7035-621C-92F8-F4193DFA6D85}"/>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8D778B18-A1CB-23BE-C988-C188E9D68079}"/>
              </a:ext>
            </a:extLst>
          </p:cNvPr>
          <p:cNvSpPr txBox="1"/>
          <p:nvPr/>
        </p:nvSpPr>
        <p:spPr>
          <a:xfrm>
            <a:off x="2149641" y="120316"/>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SQL Queries</a:t>
            </a:r>
          </a:p>
          <a:p>
            <a:endParaRPr lang="en-US" dirty="0"/>
          </a:p>
        </p:txBody>
      </p:sp>
      <p:pic>
        <p:nvPicPr>
          <p:cNvPr id="19" name="Picture 18">
            <a:extLst>
              <a:ext uri="{FF2B5EF4-FFF2-40B4-BE49-F238E27FC236}">
                <a16:creationId xmlns:a16="http://schemas.microsoft.com/office/drawing/2014/main" id="{C6100161-C70F-6DED-C337-960E4C17FA3C}"/>
              </a:ext>
            </a:extLst>
          </p:cNvPr>
          <p:cNvPicPr>
            <a:picLocks noChangeAspect="1"/>
          </p:cNvPicPr>
          <p:nvPr/>
        </p:nvPicPr>
        <p:blipFill>
          <a:blip r:embed="rId2"/>
          <a:stretch>
            <a:fillRect/>
          </a:stretch>
        </p:blipFill>
        <p:spPr>
          <a:xfrm>
            <a:off x="2149642" y="577625"/>
            <a:ext cx="6858000" cy="1355449"/>
          </a:xfrm>
          <a:prstGeom prst="rect">
            <a:avLst/>
          </a:prstGeom>
        </p:spPr>
      </p:pic>
      <p:pic>
        <p:nvPicPr>
          <p:cNvPr id="23" name="Picture 22">
            <a:extLst>
              <a:ext uri="{FF2B5EF4-FFF2-40B4-BE49-F238E27FC236}">
                <a16:creationId xmlns:a16="http://schemas.microsoft.com/office/drawing/2014/main" id="{962E12A8-6246-917C-1810-D1CDF9FA61D0}"/>
              </a:ext>
            </a:extLst>
          </p:cNvPr>
          <p:cNvPicPr>
            <a:picLocks noChangeAspect="1"/>
          </p:cNvPicPr>
          <p:nvPr/>
        </p:nvPicPr>
        <p:blipFill>
          <a:blip r:embed="rId3"/>
          <a:stretch>
            <a:fillRect/>
          </a:stretch>
        </p:blipFill>
        <p:spPr>
          <a:xfrm>
            <a:off x="9079832" y="577625"/>
            <a:ext cx="2879557" cy="1355449"/>
          </a:xfrm>
          <a:prstGeom prst="rect">
            <a:avLst/>
          </a:prstGeom>
        </p:spPr>
      </p:pic>
      <p:pic>
        <p:nvPicPr>
          <p:cNvPr id="25" name="Picture 24">
            <a:extLst>
              <a:ext uri="{FF2B5EF4-FFF2-40B4-BE49-F238E27FC236}">
                <a16:creationId xmlns:a16="http://schemas.microsoft.com/office/drawing/2014/main" id="{A74E33ED-7B11-3285-5210-E68F6BCD2150}"/>
              </a:ext>
            </a:extLst>
          </p:cNvPr>
          <p:cNvPicPr>
            <a:picLocks noChangeAspect="1"/>
          </p:cNvPicPr>
          <p:nvPr/>
        </p:nvPicPr>
        <p:blipFill>
          <a:blip r:embed="rId4"/>
          <a:stretch>
            <a:fillRect/>
          </a:stretch>
        </p:blipFill>
        <p:spPr>
          <a:xfrm>
            <a:off x="2149641" y="2038629"/>
            <a:ext cx="9809748" cy="1795434"/>
          </a:xfrm>
          <a:prstGeom prst="rect">
            <a:avLst/>
          </a:prstGeom>
        </p:spPr>
      </p:pic>
      <p:pic>
        <p:nvPicPr>
          <p:cNvPr id="29" name="Picture 28">
            <a:extLst>
              <a:ext uri="{FF2B5EF4-FFF2-40B4-BE49-F238E27FC236}">
                <a16:creationId xmlns:a16="http://schemas.microsoft.com/office/drawing/2014/main" id="{45959CF4-4DF3-CBE4-B934-CBA8BDA9AE83}"/>
              </a:ext>
            </a:extLst>
          </p:cNvPr>
          <p:cNvPicPr>
            <a:picLocks noChangeAspect="1"/>
          </p:cNvPicPr>
          <p:nvPr/>
        </p:nvPicPr>
        <p:blipFill>
          <a:blip r:embed="rId5"/>
          <a:stretch>
            <a:fillRect/>
          </a:stretch>
        </p:blipFill>
        <p:spPr>
          <a:xfrm>
            <a:off x="8636120" y="3939618"/>
            <a:ext cx="3323269" cy="1025414"/>
          </a:xfrm>
          <a:prstGeom prst="rect">
            <a:avLst/>
          </a:prstGeom>
        </p:spPr>
      </p:pic>
      <p:pic>
        <p:nvPicPr>
          <p:cNvPr id="31" name="Picture 30">
            <a:extLst>
              <a:ext uri="{FF2B5EF4-FFF2-40B4-BE49-F238E27FC236}">
                <a16:creationId xmlns:a16="http://schemas.microsoft.com/office/drawing/2014/main" id="{A652030D-AAA8-9FF0-93C1-DDCF74BAA5A7}"/>
              </a:ext>
            </a:extLst>
          </p:cNvPr>
          <p:cNvPicPr>
            <a:picLocks noChangeAspect="1"/>
          </p:cNvPicPr>
          <p:nvPr/>
        </p:nvPicPr>
        <p:blipFill>
          <a:blip r:embed="rId6"/>
          <a:stretch>
            <a:fillRect/>
          </a:stretch>
        </p:blipFill>
        <p:spPr>
          <a:xfrm>
            <a:off x="2149641" y="3939618"/>
            <a:ext cx="3050917" cy="1025414"/>
          </a:xfrm>
          <a:prstGeom prst="rect">
            <a:avLst/>
          </a:prstGeom>
        </p:spPr>
      </p:pic>
      <p:pic>
        <p:nvPicPr>
          <p:cNvPr id="33" name="Picture 32">
            <a:extLst>
              <a:ext uri="{FF2B5EF4-FFF2-40B4-BE49-F238E27FC236}">
                <a16:creationId xmlns:a16="http://schemas.microsoft.com/office/drawing/2014/main" id="{07F1A3E9-77CD-5ED8-3DBF-5079BB920EAC}"/>
              </a:ext>
            </a:extLst>
          </p:cNvPr>
          <p:cNvPicPr>
            <a:picLocks noChangeAspect="1"/>
          </p:cNvPicPr>
          <p:nvPr/>
        </p:nvPicPr>
        <p:blipFill>
          <a:blip r:embed="rId7"/>
          <a:stretch>
            <a:fillRect/>
          </a:stretch>
        </p:blipFill>
        <p:spPr>
          <a:xfrm>
            <a:off x="5256705" y="3939618"/>
            <a:ext cx="3323268" cy="1025414"/>
          </a:xfrm>
          <a:prstGeom prst="rect">
            <a:avLst/>
          </a:prstGeom>
        </p:spPr>
      </p:pic>
      <p:pic>
        <p:nvPicPr>
          <p:cNvPr id="35" name="Picture 34">
            <a:extLst>
              <a:ext uri="{FF2B5EF4-FFF2-40B4-BE49-F238E27FC236}">
                <a16:creationId xmlns:a16="http://schemas.microsoft.com/office/drawing/2014/main" id="{8BCF2CD9-2A3D-19EC-980E-D0ED6A962E46}"/>
              </a:ext>
            </a:extLst>
          </p:cNvPr>
          <p:cNvPicPr>
            <a:picLocks noChangeAspect="1"/>
          </p:cNvPicPr>
          <p:nvPr/>
        </p:nvPicPr>
        <p:blipFill>
          <a:blip r:embed="rId8"/>
          <a:stretch>
            <a:fillRect/>
          </a:stretch>
        </p:blipFill>
        <p:spPr>
          <a:xfrm>
            <a:off x="2149641" y="5070587"/>
            <a:ext cx="9809748" cy="1294538"/>
          </a:xfrm>
          <a:prstGeom prst="rect">
            <a:avLst/>
          </a:prstGeom>
        </p:spPr>
      </p:pic>
    </p:spTree>
    <p:extLst>
      <p:ext uri="{BB962C8B-B14F-4D97-AF65-F5344CB8AC3E}">
        <p14:creationId xmlns:p14="http://schemas.microsoft.com/office/powerpoint/2010/main" val="3914249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91668-EAAA-0574-60A6-BA889962780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A22D390-52F0-CC52-158C-1E378328AD49}"/>
              </a:ext>
            </a:extLst>
          </p:cNvPr>
          <p:cNvSpPr>
            <a:spLocks noGrp="1"/>
          </p:cNvSpPr>
          <p:nvPr>
            <p:ph type="title"/>
          </p:nvPr>
        </p:nvSpPr>
        <p:spPr>
          <a:xfrm>
            <a:off x="1086643" y="204536"/>
            <a:ext cx="10018713" cy="1151021"/>
          </a:xfrm>
        </p:spPr>
        <p:txBody>
          <a:bodyPr/>
          <a:lstStyle/>
          <a:p>
            <a:r>
              <a:rPr lang="en-US" sz="3600" dirty="0">
                <a:solidFill>
                  <a:srgbClr val="0070C0"/>
                </a:solidFill>
              </a:rPr>
              <a:t>Key Takeaways &amp; Insights</a:t>
            </a:r>
          </a:p>
        </p:txBody>
      </p:sp>
      <p:sp>
        <p:nvSpPr>
          <p:cNvPr id="10" name="TextBox 9">
            <a:extLst>
              <a:ext uri="{FF2B5EF4-FFF2-40B4-BE49-F238E27FC236}">
                <a16:creationId xmlns:a16="http://schemas.microsoft.com/office/drawing/2014/main" id="{C042F43B-80D2-C91F-99D7-F46A82C7AD2F}"/>
              </a:ext>
            </a:extLst>
          </p:cNvPr>
          <p:cNvSpPr txBox="1"/>
          <p:nvPr/>
        </p:nvSpPr>
        <p:spPr>
          <a:xfrm>
            <a:off x="2334126" y="1355557"/>
            <a:ext cx="9127957" cy="4801314"/>
          </a:xfrm>
          <a:prstGeom prst="rect">
            <a:avLst/>
          </a:prstGeom>
          <a:noFill/>
        </p:spPr>
        <p:txBody>
          <a:bodyPr wrap="square" rtlCol="0">
            <a:spAutoFit/>
          </a:bodyPr>
          <a:lstStyle/>
          <a:p>
            <a:pPr>
              <a:buNone/>
            </a:pPr>
            <a:endParaRPr lang="en-US" b="1" dirty="0"/>
          </a:p>
          <a:p>
            <a:pPr>
              <a:buFont typeface="+mj-lt"/>
              <a:buAutoNum type="arabicPeriod"/>
            </a:pPr>
            <a:r>
              <a:rPr lang="en-US" b="1" dirty="0"/>
              <a:t>Healthy Loan Book</a:t>
            </a:r>
            <a:r>
              <a:rPr lang="en-US" dirty="0"/>
              <a:t>: Majority of loans are fully paid or active; NPA and default rates are within manageable limits.</a:t>
            </a:r>
          </a:p>
          <a:p>
            <a:pPr>
              <a:buFont typeface="+mj-lt"/>
              <a:buAutoNum type="arabicPeriod"/>
            </a:pPr>
            <a:endParaRPr lang="en-US" dirty="0"/>
          </a:p>
          <a:p>
            <a:pPr>
              <a:buFont typeface="+mj-lt"/>
              <a:buAutoNum type="arabicPeriod"/>
            </a:pPr>
            <a:r>
              <a:rPr lang="en-US" b="1" dirty="0"/>
              <a:t>Home Loans Lead</a:t>
            </a:r>
            <a:r>
              <a:rPr lang="en-US" dirty="0"/>
              <a:t>: Dominant product at ₹164 Cr+; indicates focus on secured lending.</a:t>
            </a:r>
          </a:p>
          <a:p>
            <a:pPr>
              <a:buFont typeface="+mj-lt"/>
              <a:buAutoNum type="arabicPeriod"/>
            </a:pPr>
            <a:endParaRPr lang="en-US" dirty="0"/>
          </a:p>
          <a:p>
            <a:pPr>
              <a:buFont typeface="+mj-lt"/>
              <a:buAutoNum type="arabicPeriod"/>
            </a:pPr>
            <a:r>
              <a:rPr lang="en-US" b="1" dirty="0"/>
              <a:t>Verification Gaps</a:t>
            </a:r>
            <a:r>
              <a:rPr lang="en-US" dirty="0"/>
              <a:t>: 32% loans not verified; improvement needed for risk management.</a:t>
            </a:r>
          </a:p>
          <a:p>
            <a:pPr>
              <a:buFont typeface="+mj-lt"/>
              <a:buAutoNum type="arabicPeriod"/>
            </a:pPr>
            <a:endParaRPr lang="en-US" dirty="0"/>
          </a:p>
          <a:p>
            <a:pPr>
              <a:buFont typeface="+mj-lt"/>
              <a:buAutoNum type="arabicPeriod"/>
            </a:pPr>
            <a:r>
              <a:rPr lang="en-US" b="1" dirty="0"/>
              <a:t>Regional Focus</a:t>
            </a:r>
            <a:r>
              <a:rPr lang="en-US" dirty="0"/>
              <a:t>: UP, Rajasthan, and Odisha are top performing states.</a:t>
            </a:r>
          </a:p>
          <a:p>
            <a:pPr>
              <a:buFont typeface="+mj-lt"/>
              <a:buAutoNum type="arabicPeriod"/>
            </a:pPr>
            <a:endParaRPr lang="en-US" dirty="0"/>
          </a:p>
          <a:p>
            <a:pPr>
              <a:buFont typeface="+mj-lt"/>
              <a:buAutoNum type="arabicPeriod"/>
            </a:pPr>
            <a:r>
              <a:rPr lang="en-US" b="1" dirty="0"/>
              <a:t>Demographic Skew</a:t>
            </a:r>
            <a:r>
              <a:rPr lang="en-US" dirty="0"/>
              <a:t>: Young adults (26–35) are the highest borrowers—great for long-term engagement.</a:t>
            </a:r>
          </a:p>
          <a:p>
            <a:pPr>
              <a:buFont typeface="+mj-lt"/>
              <a:buAutoNum type="arabicPeriod"/>
            </a:pPr>
            <a:endParaRPr lang="en-US" dirty="0"/>
          </a:p>
          <a:p>
            <a:pPr>
              <a:buFont typeface="+mj-lt"/>
              <a:buAutoNum type="arabicPeriod"/>
            </a:pPr>
            <a:r>
              <a:rPr lang="en-US" b="1" dirty="0"/>
              <a:t>Branch Variation</a:t>
            </a:r>
            <a:r>
              <a:rPr lang="en-US" dirty="0"/>
              <a:t>: AGRA, AMBALA, and ASANSOL have highest payments and fees.</a:t>
            </a:r>
          </a:p>
          <a:p>
            <a:pPr>
              <a:buFont typeface="+mj-lt"/>
              <a:buAutoNum type="arabicPeriod"/>
            </a:pPr>
            <a:endParaRPr lang="en-US" dirty="0"/>
          </a:p>
          <a:p>
            <a:pPr>
              <a:buFont typeface="+mj-lt"/>
              <a:buAutoNum type="arabicPeriod"/>
            </a:pPr>
            <a:r>
              <a:rPr lang="en-US" b="1" dirty="0"/>
              <a:t>Disbursement Decline</a:t>
            </a:r>
            <a:r>
              <a:rPr lang="en-US" dirty="0"/>
              <a:t>: FY 2018 saw highest disbursement; sharp drop in FY 2020 may suggest COVID impact.</a:t>
            </a:r>
          </a:p>
        </p:txBody>
      </p:sp>
    </p:spTree>
    <p:extLst>
      <p:ext uri="{BB962C8B-B14F-4D97-AF65-F5344CB8AC3E}">
        <p14:creationId xmlns:p14="http://schemas.microsoft.com/office/powerpoint/2010/main" val="476506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F05E9-0970-46D7-9B56-ED54C9E9EEF6}"/>
              </a:ext>
            </a:extLst>
          </p:cNvPr>
          <p:cNvSpPr>
            <a:spLocks noGrp="1"/>
          </p:cNvSpPr>
          <p:nvPr>
            <p:ph type="title"/>
          </p:nvPr>
        </p:nvSpPr>
        <p:spPr>
          <a:xfrm>
            <a:off x="1484311" y="2552700"/>
            <a:ext cx="10018713" cy="1752599"/>
          </a:xfrm>
        </p:spPr>
        <p:txBody>
          <a:bodyPr>
            <a:noAutofit/>
          </a:bodyPr>
          <a:lstStyle/>
          <a:p>
            <a:r>
              <a:rPr lang="en-US" sz="11500" dirty="0">
                <a:solidFill>
                  <a:srgbClr val="0070C0"/>
                </a:solidFill>
              </a:rPr>
              <a:t>Thank You</a:t>
            </a:r>
            <a:endParaRPr lang="en-IN" sz="11500" dirty="0">
              <a:solidFill>
                <a:srgbClr val="0070C0"/>
              </a:solidFill>
            </a:endParaRPr>
          </a:p>
        </p:txBody>
      </p:sp>
    </p:spTree>
    <p:extLst>
      <p:ext uri="{BB962C8B-B14F-4D97-AF65-F5344CB8AC3E}">
        <p14:creationId xmlns:p14="http://schemas.microsoft.com/office/powerpoint/2010/main" val="24763944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190</TotalTime>
  <Words>688</Words>
  <Application>Microsoft Office PowerPoint</Application>
  <PresentationFormat>Widescreen</PresentationFormat>
  <Paragraphs>121</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Corbel</vt:lpstr>
      <vt:lpstr>Parallax</vt:lpstr>
      <vt:lpstr>Loan Analytics Banking Data Presentation  Using MS Excel, MySQL, Power BI &amp; Tableau                         By Group 4</vt:lpstr>
      <vt:lpstr>Summary:</vt:lpstr>
      <vt:lpstr>Key Performance Indicators (KPIs)</vt:lpstr>
      <vt:lpstr>Loan Status Breakdown</vt:lpstr>
      <vt:lpstr>Branch-Wise Revenue Performance</vt:lpstr>
      <vt:lpstr>Product Group-Wise Loan Distribution</vt:lpstr>
      <vt:lpstr>Religion-Wise Loan Distribution</vt:lpstr>
      <vt:lpstr>State-Wise Loan Distribution</vt:lpstr>
      <vt:lpstr>Disbursement Trend</vt:lpstr>
      <vt:lpstr>PowerPoint Presentation</vt:lpstr>
      <vt:lpstr>PowerPoint Presentation</vt:lpstr>
      <vt:lpstr>PowerPoint Presentation</vt:lpstr>
      <vt:lpstr>PowerPoint Presentation</vt:lpstr>
      <vt:lpstr>PowerPoint Presentation</vt:lpstr>
      <vt:lpstr>Key Takeaways &amp; Insights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Retention Presentation: Using MS Excel, MySQL, PowerBI &amp; Tableau                         By Group 3</dc:title>
  <dc:creator>Harshad Patil</dc:creator>
  <cp:lastModifiedBy>Sumit Sharma</cp:lastModifiedBy>
  <cp:revision>28</cp:revision>
  <dcterms:created xsi:type="dcterms:W3CDTF">2025-02-26T17:25:03Z</dcterms:created>
  <dcterms:modified xsi:type="dcterms:W3CDTF">2025-04-30T07:35:47Z</dcterms:modified>
</cp:coreProperties>
</file>